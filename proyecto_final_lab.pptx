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1" d="100"/>
          <a:sy n="91" d="100"/>
        </p:scale>
        <p:origin x="78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autoTitleDeleted val="1"/>
    <c:plotArea>
      <c:layout/>
      <c:barChart>
        <c:barDir val="col"/>
        <c:grouping val="clustered"/>
        <c:varyColors val="0"/>
        <c:ser>
          <c:idx val="0"/>
          <c:order val="0"/>
          <c:tx>
            <c:strRef>
              <c:f>Sheet1!$B$1</c:f>
              <c:strCache>
                <c:ptCount val="1"/>
                <c:pt idx="0">
                  <c:v>Random Forest</c:v>
                </c:pt>
              </c:strCache>
            </c:strRef>
          </c:tx>
          <c:spPr>
            <a:solidFill>
              <a:srgbClr val="2E86AB"/>
            </a:solidFill>
            <a:effectLst/>
          </c:spPr>
          <c:invertIfNegative val="0"/>
          <c:cat>
            <c:strRef>
              <c:f>Sheet1!$A$2:$A$4</c:f>
              <c:strCache>
                <c:ptCount val="3"/>
                <c:pt idx="0">
                  <c:v>Fold 1</c:v>
                </c:pt>
                <c:pt idx="1">
                  <c:v>Fold 2</c:v>
                </c:pt>
                <c:pt idx="2">
                  <c:v>Fold 3</c:v>
                </c:pt>
              </c:strCache>
            </c:strRef>
          </c:cat>
          <c:val>
            <c:numRef>
              <c:f>Sheet1!$B$2:$B$4</c:f>
              <c:numCache>
                <c:formatCode>General</c:formatCode>
                <c:ptCount val="3"/>
                <c:pt idx="0">
                  <c:v>0.8</c:v>
                </c:pt>
                <c:pt idx="1">
                  <c:v>0.91</c:v>
                </c:pt>
                <c:pt idx="2">
                  <c:v>0.8</c:v>
                </c:pt>
              </c:numCache>
            </c:numRef>
          </c:val>
          <c:extLst>
            <c:ext xmlns:c16="http://schemas.microsoft.com/office/drawing/2014/chart" uri="{C3380CC4-5D6E-409C-BE32-E72D297353CC}">
              <c16:uniqueId val="{00000000-7D1B-4BF6-876A-023D3DF1527E}"/>
            </c:ext>
          </c:extLst>
        </c:ser>
        <c:ser>
          <c:idx val="1"/>
          <c:order val="1"/>
          <c:tx>
            <c:strRef>
              <c:f>Sheet1!$C$1</c:f>
              <c:strCache>
                <c:ptCount val="1"/>
                <c:pt idx="0">
                  <c:v>XGBoost</c:v>
                </c:pt>
              </c:strCache>
            </c:strRef>
          </c:tx>
          <c:spPr>
            <a:solidFill>
              <a:srgbClr val="DAA520"/>
            </a:solidFill>
            <a:effectLst/>
          </c:spPr>
          <c:invertIfNegative val="0"/>
          <c:cat>
            <c:strRef>
              <c:f>Sheet1!$A$2:$A$4</c:f>
              <c:strCache>
                <c:ptCount val="3"/>
                <c:pt idx="0">
                  <c:v>Fold 1</c:v>
                </c:pt>
                <c:pt idx="1">
                  <c:v>Fold 2</c:v>
                </c:pt>
                <c:pt idx="2">
                  <c:v>Fold 3</c:v>
                </c:pt>
              </c:strCache>
            </c:strRef>
          </c:cat>
          <c:val>
            <c:numRef>
              <c:f>Sheet1!$C$2:$C$4</c:f>
              <c:numCache>
                <c:formatCode>General</c:formatCode>
                <c:ptCount val="3"/>
                <c:pt idx="0">
                  <c:v>0.75</c:v>
                </c:pt>
                <c:pt idx="1">
                  <c:v>0.88</c:v>
                </c:pt>
                <c:pt idx="2">
                  <c:v>0.83</c:v>
                </c:pt>
              </c:numCache>
            </c:numRef>
          </c:val>
          <c:extLst>
            <c:ext xmlns:c16="http://schemas.microsoft.com/office/drawing/2014/chart" uri="{C3380CC4-5D6E-409C-BE32-E72D297353CC}">
              <c16:uniqueId val="{00000001-7D1B-4BF6-876A-023D3DF1527E}"/>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r"/>
      <c:overlay val="0"/>
    </c:legend>
    <c:plotVisOnly val="1"/>
    <c:dispBlanksAs val="span"/>
    <c:showDLblsOverMax val="1"/>
  </c:chart>
  <c:spPr>
    <a:solidFill>
      <a:srgbClr val="F8F9FA"/>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56467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DAA520"/>
          </a:solidFill>
          <a:ln w="12700">
            <a:solidFill>
              <a:srgbClr val="DAA520"/>
            </a:solidFill>
            <a:prstDash val="solid"/>
          </a:ln>
        </p:spPr>
        <p:txBody>
          <a:bodyPr/>
          <a:lstStyle/>
          <a:p>
            <a:endParaRPr lang="es-MX"/>
          </a:p>
        </p:txBody>
      </p:sp>
      <p:sp>
        <p:nvSpPr>
          <p:cNvPr id="3" name="Shape 1"/>
          <p:cNvSpPr/>
          <p:nvPr/>
        </p:nvSpPr>
        <p:spPr>
          <a:xfrm>
            <a:off x="201168" y="0"/>
            <a:ext cx="36576" cy="5143500"/>
          </a:xfrm>
          <a:prstGeom prst="rect">
            <a:avLst/>
          </a:prstGeom>
          <a:solidFill>
            <a:srgbClr val="F5C842">
              <a:alpha val="40000"/>
            </a:srgbClr>
          </a:solidFill>
          <a:ln w="12700">
            <a:solidFill>
              <a:srgbClr val="F5C842">
                <a:alpha val="40000"/>
              </a:srgbClr>
            </a:solidFill>
            <a:prstDash val="solid"/>
          </a:ln>
        </p:spPr>
        <p:txBody>
          <a:bodyPr/>
          <a:lstStyle/>
          <a:p>
            <a:endParaRPr lang="es-MX"/>
          </a:p>
        </p:txBody>
      </p:sp>
      <p:sp>
        <p:nvSpPr>
          <p:cNvPr id="4" name="Text 2"/>
          <p:cNvSpPr/>
          <p:nvPr/>
        </p:nvSpPr>
        <p:spPr>
          <a:xfrm>
            <a:off x="502920" y="822960"/>
            <a:ext cx="8321040" cy="109728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Predicción del Precio del Oro</a:t>
            </a:r>
            <a:endParaRPr lang="en-US" sz="3800" dirty="0"/>
          </a:p>
        </p:txBody>
      </p:sp>
      <p:sp>
        <p:nvSpPr>
          <p:cNvPr id="5" name="Text 3"/>
          <p:cNvSpPr/>
          <p:nvPr/>
        </p:nvSpPr>
        <p:spPr>
          <a:xfrm>
            <a:off x="502920" y="1828800"/>
            <a:ext cx="8321040" cy="640080"/>
          </a:xfrm>
          <a:prstGeom prst="rect">
            <a:avLst/>
          </a:prstGeom>
          <a:noFill/>
          <a:ln/>
        </p:spPr>
        <p:txBody>
          <a:bodyPr wrap="square" lIns="0" tIns="0" rIns="0" bIns="0" rtlCol="0" anchor="ctr"/>
          <a:lstStyle/>
          <a:p>
            <a:pPr marL="0" indent="0" algn="l">
              <a:buNone/>
            </a:pPr>
            <a:r>
              <a:rPr lang="en-US" sz="2200" i="1" dirty="0">
                <a:solidFill>
                  <a:srgbClr val="F5C842"/>
                </a:solidFill>
                <a:latin typeface="Calibri" pitchFamily="34" charset="0"/>
                <a:ea typeface="Calibri" pitchFamily="34" charset="-122"/>
                <a:cs typeface="Calibri" pitchFamily="34" charset="-120"/>
              </a:rPr>
              <a:t>mediante Indicadores Macroeconómicos Globales</a:t>
            </a:r>
            <a:endParaRPr lang="en-US" sz="2200" dirty="0"/>
          </a:p>
        </p:txBody>
      </p:sp>
      <p:sp>
        <p:nvSpPr>
          <p:cNvPr id="6" name="Shape 4"/>
          <p:cNvSpPr/>
          <p:nvPr/>
        </p:nvSpPr>
        <p:spPr>
          <a:xfrm>
            <a:off x="502920" y="2606040"/>
            <a:ext cx="5029200" cy="36576"/>
          </a:xfrm>
          <a:prstGeom prst="rect">
            <a:avLst/>
          </a:prstGeom>
          <a:solidFill>
            <a:srgbClr val="DAA520"/>
          </a:solidFill>
          <a:ln w="12700">
            <a:solidFill>
              <a:srgbClr val="DAA520"/>
            </a:solidFill>
            <a:prstDash val="solid"/>
          </a:ln>
        </p:spPr>
        <p:txBody>
          <a:bodyPr/>
          <a:lstStyle/>
          <a:p>
            <a:endParaRPr lang="es-MX"/>
          </a:p>
        </p:txBody>
      </p:sp>
      <p:sp>
        <p:nvSpPr>
          <p:cNvPr id="7" name="Text 5"/>
          <p:cNvSpPr/>
          <p:nvPr/>
        </p:nvSpPr>
        <p:spPr>
          <a:xfrm>
            <a:off x="502920" y="2788920"/>
            <a:ext cx="6400800" cy="822960"/>
          </a:xfrm>
          <a:prstGeom prst="rect">
            <a:avLst/>
          </a:prstGeom>
          <a:noFill/>
          <a:ln/>
        </p:spPr>
        <p:txBody>
          <a:bodyPr wrap="square" lIns="0" tIns="0" rIns="0" bIns="0" rtlCol="0" anchor="ctr"/>
          <a:lstStyle/>
          <a:p>
            <a:pPr marL="0" indent="0" algn="l">
              <a:buNone/>
            </a:pPr>
            <a:r>
              <a:rPr lang="en-US" sz="1400" dirty="0">
                <a:solidFill>
                  <a:srgbClr val="64748B"/>
                </a:solidFill>
                <a:latin typeface="Calibri" pitchFamily="34" charset="0"/>
                <a:ea typeface="Calibri" pitchFamily="34" charset="-122"/>
                <a:cs typeface="Calibri" pitchFamily="34" charset="-120"/>
              </a:rPr>
              <a:t>Jorge Oviedo Magaña  ·  Alan Almaraz</a:t>
            </a:r>
            <a:endParaRPr lang="en-US" sz="1400" dirty="0"/>
          </a:p>
          <a:p>
            <a:pPr marL="0" indent="0" algn="l">
              <a:buNone/>
            </a:pPr>
            <a:r>
              <a:rPr lang="en-US" sz="1400" dirty="0">
                <a:solidFill>
                  <a:srgbClr val="64748B"/>
                </a:solidFill>
                <a:latin typeface="Calibri" pitchFamily="34" charset="0"/>
                <a:ea typeface="Calibri" pitchFamily="34" charset="-122"/>
                <a:cs typeface="Calibri" pitchFamily="34" charset="-120"/>
              </a:rPr>
              <a:t>Aprendizaje Estadístico  ·  Mayo 2026</a:t>
            </a:r>
            <a:endParaRPr lang="en-US" sz="1400" dirty="0"/>
          </a:p>
        </p:txBody>
      </p:sp>
      <p:sp>
        <p:nvSpPr>
          <p:cNvPr id="8" name="Shape 6"/>
          <p:cNvSpPr/>
          <p:nvPr/>
        </p:nvSpPr>
        <p:spPr>
          <a:xfrm>
            <a:off x="502920" y="3977640"/>
            <a:ext cx="3840480" cy="502920"/>
          </a:xfrm>
          <a:prstGeom prst="roundRect">
            <a:avLst>
              <a:gd name="adj" fmla="val 14545"/>
            </a:avLst>
          </a:prstGeom>
          <a:solidFill>
            <a:srgbClr val="1A2E40"/>
          </a:solidFill>
          <a:ln w="12700">
            <a:solidFill>
              <a:srgbClr val="DAA520"/>
            </a:solidFill>
            <a:prstDash val="solid"/>
          </a:ln>
        </p:spPr>
        <p:txBody>
          <a:bodyPr/>
          <a:lstStyle/>
          <a:p>
            <a:endParaRPr lang="es-MX"/>
          </a:p>
        </p:txBody>
      </p:sp>
      <p:sp>
        <p:nvSpPr>
          <p:cNvPr id="9" name="Text 7"/>
          <p:cNvSpPr/>
          <p:nvPr/>
        </p:nvSpPr>
        <p:spPr>
          <a:xfrm>
            <a:off x="502920" y="3977640"/>
            <a:ext cx="3840480" cy="502920"/>
          </a:xfrm>
          <a:prstGeom prst="rect">
            <a:avLst/>
          </a:prstGeom>
          <a:noFill/>
          <a:ln/>
        </p:spPr>
        <p:txBody>
          <a:bodyPr wrap="square" lIns="0" tIns="0" rIns="0" bIns="0" rtlCol="0" anchor="ctr"/>
          <a:lstStyle/>
          <a:p>
            <a:pPr marL="0" indent="0" algn="ctr">
              <a:buNone/>
            </a:pPr>
            <a:r>
              <a:rPr lang="en-US" sz="1100" dirty="0">
                <a:solidFill>
                  <a:srgbClr val="F5C842"/>
                </a:solidFill>
                <a:latin typeface="Calibri" pitchFamily="34" charset="0"/>
                <a:ea typeface="Calibri" pitchFamily="34" charset="-122"/>
                <a:cs typeface="Calibri" pitchFamily="34" charset="-120"/>
              </a:rPr>
              <a:t>🔗  github.com / [usuario] / gold-price-prediction</a:t>
            </a:r>
            <a:endParaRPr lang="en-US" sz="1100" dirty="0"/>
          </a:p>
        </p:txBody>
      </p:sp>
      <p:sp>
        <p:nvSpPr>
          <p:cNvPr id="10" name="Text 8"/>
          <p:cNvSpPr/>
          <p:nvPr/>
        </p:nvSpPr>
        <p:spPr>
          <a:xfrm>
            <a:off x="6858000" y="1097280"/>
            <a:ext cx="2011680" cy="2011680"/>
          </a:xfrm>
          <a:prstGeom prst="rect">
            <a:avLst/>
          </a:prstGeom>
          <a:noFill/>
          <a:ln/>
        </p:spPr>
        <p:txBody>
          <a:bodyPr wrap="square" lIns="0" tIns="0" rIns="0" bIns="0" rtlCol="0" anchor="ctr"/>
          <a:lstStyle/>
          <a:p>
            <a:pPr marL="0" indent="0" algn="ctr">
              <a:buNone/>
            </a:pPr>
            <a:r>
              <a:rPr lang="en-US" sz="9600" dirty="0">
                <a:solidFill>
                  <a:srgbClr val="000000"/>
                </a:solidFill>
              </a:rPr>
              <a:t>🥇</a:t>
            </a:r>
            <a:endParaRPr lang="en-US" sz="9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DAA520"/>
          </a:solidFill>
          <a:ln w="12700">
            <a:solidFill>
              <a:srgbClr val="DAA520"/>
            </a:solidFill>
            <a:prstDash val="solid"/>
          </a:ln>
        </p:spPr>
        <p:txBody>
          <a:bodyPr/>
          <a:lstStyle/>
          <a:p>
            <a:endParaRPr lang="es-MX"/>
          </a:p>
        </p:txBody>
      </p:sp>
      <p:sp>
        <p:nvSpPr>
          <p:cNvPr id="3" name="Text 1"/>
          <p:cNvSpPr/>
          <p:nvPr/>
        </p:nvSpPr>
        <p:spPr>
          <a:xfrm>
            <a:off x="457200" y="320040"/>
            <a:ext cx="8229600" cy="640080"/>
          </a:xfrm>
          <a:prstGeom prst="rect">
            <a:avLst/>
          </a:prstGeom>
          <a:noFill/>
          <a:ln/>
        </p:spPr>
        <p:txBody>
          <a:bodyPr wrap="square" lIns="0" tIns="0" rIns="0" bIns="0" rtlCol="0" anchor="ctr"/>
          <a:lstStyle/>
          <a:p>
            <a:pPr marL="0" indent="0">
              <a:buNone/>
            </a:pPr>
            <a:r>
              <a:rPr lang="en-US" sz="3000" b="1" dirty="0">
                <a:solidFill>
                  <a:srgbClr val="1E2A38"/>
                </a:solidFill>
                <a:latin typeface="Calibri" pitchFamily="34" charset="0"/>
                <a:ea typeface="Calibri" pitchFamily="34" charset="-122"/>
                <a:cs typeface="Calibri" pitchFamily="34" charset="-120"/>
              </a:rPr>
              <a:t>Objetivo del Proyecto</a:t>
            </a:r>
            <a:endParaRPr lang="en-US" sz="3000" dirty="0"/>
          </a:p>
        </p:txBody>
      </p:sp>
      <p:sp>
        <p:nvSpPr>
          <p:cNvPr id="4" name="Shape 2"/>
          <p:cNvSpPr/>
          <p:nvPr/>
        </p:nvSpPr>
        <p:spPr>
          <a:xfrm>
            <a:off x="457200" y="1097280"/>
            <a:ext cx="8229600" cy="1188720"/>
          </a:xfrm>
          <a:prstGeom prst="rect">
            <a:avLst/>
          </a:prstGeom>
          <a:solidFill>
            <a:srgbClr val="0F1923"/>
          </a:solidFill>
          <a:ln w="12700">
            <a:solidFill>
              <a:srgbClr val="0F1923"/>
            </a:solidFill>
            <a:prstDash val="solid"/>
          </a:ln>
          <a:effectLst>
            <a:outerShdw blurRad="101600" dist="38100" dir="8100000" algn="bl" rotWithShape="0">
              <a:srgbClr val="000000">
                <a:alpha val="12000"/>
              </a:srgbClr>
            </a:outerShdw>
          </a:effectLst>
        </p:spPr>
        <p:txBody>
          <a:bodyPr/>
          <a:lstStyle/>
          <a:p>
            <a:endParaRPr lang="es-MX"/>
          </a:p>
        </p:txBody>
      </p:sp>
      <p:sp>
        <p:nvSpPr>
          <p:cNvPr id="5" name="Shape 3"/>
          <p:cNvSpPr/>
          <p:nvPr/>
        </p:nvSpPr>
        <p:spPr>
          <a:xfrm>
            <a:off x="457200" y="1097280"/>
            <a:ext cx="164592" cy="1188720"/>
          </a:xfrm>
          <a:prstGeom prst="rect">
            <a:avLst/>
          </a:prstGeom>
          <a:solidFill>
            <a:srgbClr val="DAA520"/>
          </a:solidFill>
          <a:ln w="12700">
            <a:solidFill>
              <a:srgbClr val="DAA520"/>
            </a:solidFill>
            <a:prstDash val="solid"/>
          </a:ln>
        </p:spPr>
        <p:txBody>
          <a:bodyPr/>
          <a:lstStyle/>
          <a:p>
            <a:endParaRPr lang="es-MX"/>
          </a:p>
        </p:txBody>
      </p:sp>
      <p:sp>
        <p:nvSpPr>
          <p:cNvPr id="6" name="Text 4"/>
          <p:cNvSpPr/>
          <p:nvPr/>
        </p:nvSpPr>
        <p:spPr>
          <a:xfrm>
            <a:off x="731520" y="1143000"/>
            <a:ext cx="7772400" cy="1097280"/>
          </a:xfrm>
          <a:prstGeom prst="rect">
            <a:avLst/>
          </a:prstGeom>
          <a:noFill/>
          <a:ln/>
        </p:spPr>
        <p:txBody>
          <a:bodyPr wrap="square" lIns="0" tIns="0" rIns="0" bIns="0" rtlCol="0" anchor="ctr"/>
          <a:lstStyle/>
          <a:p>
            <a:pPr marL="0" indent="0">
              <a:buNone/>
            </a:pPr>
            <a:r>
              <a:rPr lang="en-US" sz="1500" i="1" dirty="0">
                <a:solidFill>
                  <a:srgbClr val="FFFFFF"/>
                </a:solidFill>
                <a:latin typeface="Calibri" pitchFamily="34" charset="0"/>
                <a:ea typeface="Calibri" pitchFamily="34" charset="-122"/>
                <a:cs typeface="Calibri" pitchFamily="34" charset="-120"/>
              </a:rPr>
              <a:t>¿En qué medida el índice del dólar, el precio del petróleo y la inflación —combinados con el comportamiento reciente del oro— permiten predecir su precio diario?</a:t>
            </a:r>
            <a:endParaRPr lang="en-US" sz="1500" dirty="0"/>
          </a:p>
        </p:txBody>
      </p:sp>
      <p:sp>
        <p:nvSpPr>
          <p:cNvPr id="7" name="Shape 5"/>
          <p:cNvSpPr/>
          <p:nvPr/>
        </p:nvSpPr>
        <p:spPr>
          <a:xfrm>
            <a:off x="457200" y="2514600"/>
            <a:ext cx="2606040" cy="21945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8" name="Text 6"/>
          <p:cNvSpPr/>
          <p:nvPr/>
        </p:nvSpPr>
        <p:spPr>
          <a:xfrm>
            <a:off x="457200" y="2606040"/>
            <a:ext cx="2606040" cy="640080"/>
          </a:xfrm>
          <a:prstGeom prst="rect">
            <a:avLst/>
          </a:prstGeom>
          <a:noFill/>
          <a:ln/>
        </p:spPr>
        <p:txBody>
          <a:bodyPr wrap="square" lIns="0" tIns="0" rIns="0" bIns="0" rtlCol="0" anchor="ctr"/>
          <a:lstStyle/>
          <a:p>
            <a:pPr marL="0" indent="0" algn="ctr">
              <a:buNone/>
            </a:pPr>
            <a:r>
              <a:rPr lang="en-US" sz="3000" dirty="0">
                <a:solidFill>
                  <a:srgbClr val="000000"/>
                </a:solidFill>
              </a:rPr>
              <a:t>🔍</a:t>
            </a:r>
            <a:endParaRPr lang="en-US" sz="3000" dirty="0"/>
          </a:p>
        </p:txBody>
      </p:sp>
      <p:sp>
        <p:nvSpPr>
          <p:cNvPr id="9" name="Text 7"/>
          <p:cNvSpPr/>
          <p:nvPr/>
        </p:nvSpPr>
        <p:spPr>
          <a:xfrm>
            <a:off x="457200" y="3246120"/>
            <a:ext cx="2606040" cy="365760"/>
          </a:xfrm>
          <a:prstGeom prst="rect">
            <a:avLst/>
          </a:prstGeom>
          <a:noFill/>
          <a:ln/>
        </p:spPr>
        <p:txBody>
          <a:bodyPr wrap="square" lIns="0" tIns="0" rIns="0" bIns="0" rtlCol="0" anchor="ctr"/>
          <a:lstStyle/>
          <a:p>
            <a:pPr marL="0" indent="0" algn="ctr">
              <a:buNone/>
            </a:pPr>
            <a:r>
              <a:rPr lang="en-US" sz="1400" b="1" dirty="0">
                <a:solidFill>
                  <a:srgbClr val="1E2A38"/>
                </a:solidFill>
                <a:latin typeface="Calibri" pitchFamily="34" charset="0"/>
                <a:ea typeface="Calibri" pitchFamily="34" charset="-122"/>
                <a:cs typeface="Calibri" pitchFamily="34" charset="-120"/>
              </a:rPr>
              <a:t>Explorar</a:t>
            </a:r>
            <a:endParaRPr lang="en-US" sz="1400" dirty="0"/>
          </a:p>
        </p:txBody>
      </p:sp>
      <p:sp>
        <p:nvSpPr>
          <p:cNvPr id="10" name="Text 8"/>
          <p:cNvSpPr/>
          <p:nvPr/>
        </p:nvSpPr>
        <p:spPr>
          <a:xfrm>
            <a:off x="548640" y="3611880"/>
            <a:ext cx="2423160" cy="1005840"/>
          </a:xfrm>
          <a:prstGeom prst="rect">
            <a:avLst/>
          </a:prstGeom>
          <a:noFill/>
          <a:ln/>
        </p:spPr>
        <p:txBody>
          <a:bodyPr wrap="square" lIns="0" tIns="0" rIns="0" bIns="0" rtlCol="0" anchor="t"/>
          <a:lstStyle/>
          <a:p>
            <a:pPr marL="0" indent="0" algn="ctr">
              <a:buNone/>
            </a:pPr>
            <a:r>
              <a:rPr lang="en-US" sz="1100" dirty="0">
                <a:solidFill>
                  <a:srgbClr val="64748B"/>
                </a:solidFill>
                <a:latin typeface="Calibri" pitchFamily="34" charset="0"/>
                <a:ea typeface="Calibri" pitchFamily="34" charset="-122"/>
                <a:cs typeface="Calibri" pitchFamily="34" charset="-120"/>
              </a:rPr>
              <a:t>Analizar 11 años de datos históricos (2015–2026) del oro y sus indicadores macro</a:t>
            </a:r>
            <a:endParaRPr lang="en-US" sz="1100" dirty="0"/>
          </a:p>
        </p:txBody>
      </p:sp>
      <p:sp>
        <p:nvSpPr>
          <p:cNvPr id="11" name="Shape 9"/>
          <p:cNvSpPr/>
          <p:nvPr/>
        </p:nvSpPr>
        <p:spPr>
          <a:xfrm>
            <a:off x="3291840" y="2514600"/>
            <a:ext cx="2606040" cy="21945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12" name="Text 10"/>
          <p:cNvSpPr/>
          <p:nvPr/>
        </p:nvSpPr>
        <p:spPr>
          <a:xfrm>
            <a:off x="3291840" y="2606040"/>
            <a:ext cx="2606040" cy="640080"/>
          </a:xfrm>
          <a:prstGeom prst="rect">
            <a:avLst/>
          </a:prstGeom>
          <a:noFill/>
          <a:ln/>
        </p:spPr>
        <p:txBody>
          <a:bodyPr wrap="square" lIns="0" tIns="0" rIns="0" bIns="0" rtlCol="0" anchor="ctr"/>
          <a:lstStyle/>
          <a:p>
            <a:pPr marL="0" indent="0" algn="ctr">
              <a:buNone/>
            </a:pPr>
            <a:r>
              <a:rPr lang="en-US" sz="3000" dirty="0">
                <a:solidFill>
                  <a:srgbClr val="000000"/>
                </a:solidFill>
              </a:rPr>
              <a:t>🤖</a:t>
            </a:r>
            <a:endParaRPr lang="en-US" sz="3000" dirty="0"/>
          </a:p>
        </p:txBody>
      </p:sp>
      <p:sp>
        <p:nvSpPr>
          <p:cNvPr id="13" name="Text 11"/>
          <p:cNvSpPr/>
          <p:nvPr/>
        </p:nvSpPr>
        <p:spPr>
          <a:xfrm>
            <a:off x="3291840" y="3246120"/>
            <a:ext cx="2606040" cy="365760"/>
          </a:xfrm>
          <a:prstGeom prst="rect">
            <a:avLst/>
          </a:prstGeom>
          <a:noFill/>
          <a:ln/>
        </p:spPr>
        <p:txBody>
          <a:bodyPr wrap="square" lIns="0" tIns="0" rIns="0" bIns="0" rtlCol="0" anchor="ctr"/>
          <a:lstStyle/>
          <a:p>
            <a:pPr marL="0" indent="0" algn="ctr">
              <a:buNone/>
            </a:pPr>
            <a:r>
              <a:rPr lang="en-US" sz="1400" b="1" dirty="0">
                <a:solidFill>
                  <a:srgbClr val="1E2A38"/>
                </a:solidFill>
                <a:latin typeface="Calibri" pitchFamily="34" charset="0"/>
                <a:ea typeface="Calibri" pitchFamily="34" charset="-122"/>
                <a:cs typeface="Calibri" pitchFamily="34" charset="-120"/>
              </a:rPr>
              <a:t>Modelar</a:t>
            </a:r>
            <a:endParaRPr lang="en-US" sz="1400" dirty="0"/>
          </a:p>
        </p:txBody>
      </p:sp>
      <p:sp>
        <p:nvSpPr>
          <p:cNvPr id="14" name="Text 12"/>
          <p:cNvSpPr/>
          <p:nvPr/>
        </p:nvSpPr>
        <p:spPr>
          <a:xfrm>
            <a:off x="3383280" y="3611880"/>
            <a:ext cx="2423160" cy="1005840"/>
          </a:xfrm>
          <a:prstGeom prst="rect">
            <a:avLst/>
          </a:prstGeom>
          <a:noFill/>
          <a:ln/>
        </p:spPr>
        <p:txBody>
          <a:bodyPr wrap="square" lIns="0" tIns="0" rIns="0" bIns="0" rtlCol="0" anchor="t"/>
          <a:lstStyle/>
          <a:p>
            <a:pPr marL="0" indent="0" algn="ctr">
              <a:buNone/>
            </a:pPr>
            <a:r>
              <a:rPr lang="en-US" sz="1100" dirty="0">
                <a:solidFill>
                  <a:srgbClr val="64748B"/>
                </a:solidFill>
                <a:latin typeface="Calibri" pitchFamily="34" charset="0"/>
                <a:ea typeface="Calibri" pitchFamily="34" charset="-122"/>
                <a:cs typeface="Calibri" pitchFamily="34" charset="-120"/>
              </a:rPr>
              <a:t>Implementar y optimizar Random Forest y XGBoost con validación cruzada temporal</a:t>
            </a:r>
            <a:endParaRPr lang="en-US" sz="1100" dirty="0"/>
          </a:p>
        </p:txBody>
      </p:sp>
      <p:sp>
        <p:nvSpPr>
          <p:cNvPr id="15" name="Shape 13"/>
          <p:cNvSpPr/>
          <p:nvPr/>
        </p:nvSpPr>
        <p:spPr>
          <a:xfrm>
            <a:off x="6126480" y="2514600"/>
            <a:ext cx="2606040" cy="21945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16" name="Text 14"/>
          <p:cNvSpPr/>
          <p:nvPr/>
        </p:nvSpPr>
        <p:spPr>
          <a:xfrm>
            <a:off x="6126480" y="2606040"/>
            <a:ext cx="2606040" cy="640080"/>
          </a:xfrm>
          <a:prstGeom prst="rect">
            <a:avLst/>
          </a:prstGeom>
          <a:noFill/>
          <a:ln/>
        </p:spPr>
        <p:txBody>
          <a:bodyPr wrap="square" lIns="0" tIns="0" rIns="0" bIns="0" rtlCol="0" anchor="ctr"/>
          <a:lstStyle/>
          <a:p>
            <a:pPr marL="0" indent="0" algn="ctr">
              <a:buNone/>
            </a:pPr>
            <a:r>
              <a:rPr lang="en-US" sz="3000" dirty="0">
                <a:solidFill>
                  <a:srgbClr val="000000"/>
                </a:solidFill>
              </a:rPr>
              <a:t>📊</a:t>
            </a:r>
            <a:endParaRPr lang="en-US" sz="3000" dirty="0"/>
          </a:p>
        </p:txBody>
      </p:sp>
      <p:sp>
        <p:nvSpPr>
          <p:cNvPr id="17" name="Text 15"/>
          <p:cNvSpPr/>
          <p:nvPr/>
        </p:nvSpPr>
        <p:spPr>
          <a:xfrm>
            <a:off x="6126480" y="3246120"/>
            <a:ext cx="2606040" cy="365760"/>
          </a:xfrm>
          <a:prstGeom prst="rect">
            <a:avLst/>
          </a:prstGeom>
          <a:noFill/>
          <a:ln/>
        </p:spPr>
        <p:txBody>
          <a:bodyPr wrap="square" lIns="0" tIns="0" rIns="0" bIns="0" rtlCol="0" anchor="ctr"/>
          <a:lstStyle/>
          <a:p>
            <a:pPr marL="0" indent="0" algn="ctr">
              <a:buNone/>
            </a:pPr>
            <a:r>
              <a:rPr lang="en-US" sz="1400" b="1" dirty="0">
                <a:solidFill>
                  <a:srgbClr val="1E2A38"/>
                </a:solidFill>
                <a:latin typeface="Calibri" pitchFamily="34" charset="0"/>
                <a:ea typeface="Calibri" pitchFamily="34" charset="-122"/>
                <a:cs typeface="Calibri" pitchFamily="34" charset="-120"/>
              </a:rPr>
              <a:t>Comparar</a:t>
            </a:r>
            <a:endParaRPr lang="en-US" sz="1400" dirty="0"/>
          </a:p>
        </p:txBody>
      </p:sp>
      <p:sp>
        <p:nvSpPr>
          <p:cNvPr id="18" name="Text 16"/>
          <p:cNvSpPr/>
          <p:nvPr/>
        </p:nvSpPr>
        <p:spPr>
          <a:xfrm>
            <a:off x="6217920" y="3611880"/>
            <a:ext cx="2423160" cy="1005840"/>
          </a:xfrm>
          <a:prstGeom prst="rect">
            <a:avLst/>
          </a:prstGeom>
          <a:noFill/>
          <a:ln/>
        </p:spPr>
        <p:txBody>
          <a:bodyPr wrap="square" lIns="0" tIns="0" rIns="0" bIns="0" rtlCol="0" anchor="t"/>
          <a:lstStyle/>
          <a:p>
            <a:pPr marL="0" indent="0" algn="ctr">
              <a:buNone/>
            </a:pPr>
            <a:r>
              <a:rPr lang="en-US" sz="1100" dirty="0">
                <a:solidFill>
                  <a:srgbClr val="64748B"/>
                </a:solidFill>
                <a:latin typeface="Calibri" pitchFamily="34" charset="0"/>
                <a:ea typeface="Calibri" pitchFamily="34" charset="-122"/>
                <a:cs typeface="Calibri" pitchFamily="34" charset="-120"/>
              </a:rPr>
              <a:t>Determinar cuál modelo predice mejor el precio del oro usando RMSE como métrico</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DAA520"/>
          </a:solidFill>
          <a:ln w="12700">
            <a:solidFill>
              <a:srgbClr val="DAA520"/>
            </a:solidFill>
            <a:prstDash val="solid"/>
          </a:ln>
        </p:spPr>
        <p:txBody>
          <a:bodyPr/>
          <a:lstStyle/>
          <a:p>
            <a:endParaRPr lang="es-MX"/>
          </a:p>
        </p:txBody>
      </p:sp>
      <p:sp>
        <p:nvSpPr>
          <p:cNvPr id="3" name="Text 1"/>
          <p:cNvSpPr/>
          <p:nvPr/>
        </p:nvSpPr>
        <p:spPr>
          <a:xfrm>
            <a:off x="457200" y="320040"/>
            <a:ext cx="8229600" cy="640080"/>
          </a:xfrm>
          <a:prstGeom prst="rect">
            <a:avLst/>
          </a:prstGeom>
          <a:noFill/>
          <a:ln/>
        </p:spPr>
        <p:txBody>
          <a:bodyPr wrap="square" lIns="0" tIns="0" rIns="0" bIns="0" rtlCol="0" anchor="ctr"/>
          <a:lstStyle/>
          <a:p>
            <a:pPr marL="0" indent="0">
              <a:buNone/>
            </a:pPr>
            <a:r>
              <a:rPr lang="en-US" sz="3000" b="1" dirty="0">
                <a:solidFill>
                  <a:srgbClr val="1E2A38"/>
                </a:solidFill>
                <a:latin typeface="Calibri" pitchFamily="34" charset="0"/>
                <a:ea typeface="Calibri" pitchFamily="34" charset="-122"/>
                <a:cs typeface="Calibri" pitchFamily="34" charset="-120"/>
              </a:rPr>
              <a:t>El Dataset</a:t>
            </a:r>
            <a:endParaRPr lang="en-US" sz="3000" dirty="0"/>
          </a:p>
        </p:txBody>
      </p:sp>
      <p:sp>
        <p:nvSpPr>
          <p:cNvPr id="4" name="Shape 2"/>
          <p:cNvSpPr/>
          <p:nvPr/>
        </p:nvSpPr>
        <p:spPr>
          <a:xfrm>
            <a:off x="457200" y="1005840"/>
            <a:ext cx="5029200" cy="411480"/>
          </a:xfrm>
          <a:prstGeom prst="rect">
            <a:avLst/>
          </a:prstGeom>
          <a:solidFill>
            <a:srgbClr val="1A2E40"/>
          </a:solidFill>
          <a:ln w="12700">
            <a:solidFill>
              <a:srgbClr val="1A2E40"/>
            </a:solidFill>
            <a:prstDash val="solid"/>
          </a:ln>
          <a:effectLst>
            <a:outerShdw blurRad="101600" dist="38100" dir="8100000" algn="bl" rotWithShape="0">
              <a:srgbClr val="000000">
                <a:alpha val="12000"/>
              </a:srgbClr>
            </a:outerShdw>
          </a:effectLst>
        </p:spPr>
        <p:txBody>
          <a:bodyPr/>
          <a:lstStyle/>
          <a:p>
            <a:endParaRPr lang="es-MX"/>
          </a:p>
        </p:txBody>
      </p:sp>
      <p:sp>
        <p:nvSpPr>
          <p:cNvPr id="5" name="Text 3"/>
          <p:cNvSpPr/>
          <p:nvPr/>
        </p:nvSpPr>
        <p:spPr>
          <a:xfrm>
            <a:off x="457200" y="1005840"/>
            <a:ext cx="5029200" cy="411480"/>
          </a:xfrm>
          <a:prstGeom prst="rect">
            <a:avLst/>
          </a:prstGeom>
          <a:noFill/>
          <a:ln/>
        </p:spPr>
        <p:txBody>
          <a:bodyPr wrap="square" lIns="0" tIns="0" rIns="0" bIns="0" rtlCol="0" anchor="ctr"/>
          <a:lstStyle/>
          <a:p>
            <a:pPr marL="0" indent="0" algn="ctr">
              <a:buNone/>
            </a:pPr>
            <a:r>
              <a:rPr lang="en-US" sz="1050" dirty="0">
                <a:solidFill>
                  <a:srgbClr val="F5C842"/>
                </a:solidFill>
                <a:latin typeface="Calibri" pitchFamily="34" charset="0"/>
                <a:ea typeface="Calibri" pitchFamily="34" charset="-122"/>
                <a:cs typeface="Calibri" pitchFamily="34" charset="-120"/>
              </a:rPr>
              <a:t>📦  Kaggle · Gold Price &amp; Global Economic Indicators (2015–2026) · Amina Salamt</a:t>
            </a:r>
            <a:endParaRPr lang="en-US" sz="1050" dirty="0"/>
          </a:p>
        </p:txBody>
      </p:sp>
      <p:sp>
        <p:nvSpPr>
          <p:cNvPr id="6" name="Shape 4"/>
          <p:cNvSpPr/>
          <p:nvPr/>
        </p:nvSpPr>
        <p:spPr>
          <a:xfrm>
            <a:off x="6400800" y="960120"/>
            <a:ext cx="2286000" cy="1005840"/>
          </a:xfrm>
          <a:prstGeom prst="rect">
            <a:avLst/>
          </a:prstGeom>
          <a:solidFill>
            <a:srgbClr val="0F1923"/>
          </a:solidFill>
          <a:ln w="12700">
            <a:solidFill>
              <a:srgbClr val="0F1923"/>
            </a:solidFill>
            <a:prstDash val="solid"/>
          </a:ln>
          <a:effectLst>
            <a:outerShdw blurRad="101600" dist="38100" dir="8100000" algn="bl" rotWithShape="0">
              <a:srgbClr val="000000">
                <a:alpha val="12000"/>
              </a:srgbClr>
            </a:outerShdw>
          </a:effectLst>
        </p:spPr>
        <p:txBody>
          <a:bodyPr/>
          <a:lstStyle/>
          <a:p>
            <a:endParaRPr lang="es-MX"/>
          </a:p>
        </p:txBody>
      </p:sp>
      <p:sp>
        <p:nvSpPr>
          <p:cNvPr id="7" name="Text 5"/>
          <p:cNvSpPr/>
          <p:nvPr/>
        </p:nvSpPr>
        <p:spPr>
          <a:xfrm>
            <a:off x="6400800" y="1005840"/>
            <a:ext cx="2286000" cy="548640"/>
          </a:xfrm>
          <a:prstGeom prst="rect">
            <a:avLst/>
          </a:prstGeom>
          <a:noFill/>
          <a:ln/>
        </p:spPr>
        <p:txBody>
          <a:bodyPr wrap="square" lIns="0" tIns="0" rIns="0" bIns="0" rtlCol="0" anchor="ctr"/>
          <a:lstStyle/>
          <a:p>
            <a:pPr marL="0" indent="0" algn="ctr">
              <a:buNone/>
            </a:pPr>
            <a:r>
              <a:rPr lang="en-US" sz="3200" b="1" dirty="0">
                <a:solidFill>
                  <a:srgbClr val="F5C842"/>
                </a:solidFill>
                <a:latin typeface="Calibri" pitchFamily="34" charset="0"/>
                <a:ea typeface="Calibri" pitchFamily="34" charset="-122"/>
                <a:cs typeface="Calibri" pitchFamily="34" charset="-120"/>
              </a:rPr>
              <a:t>4,137</a:t>
            </a:r>
            <a:endParaRPr lang="en-US" sz="3200" dirty="0"/>
          </a:p>
        </p:txBody>
      </p:sp>
      <p:sp>
        <p:nvSpPr>
          <p:cNvPr id="8" name="Text 6"/>
          <p:cNvSpPr/>
          <p:nvPr/>
        </p:nvSpPr>
        <p:spPr>
          <a:xfrm>
            <a:off x="6400800" y="1554480"/>
            <a:ext cx="228600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registros diarios</a:t>
            </a:r>
            <a:endParaRPr lang="en-US" sz="1100" dirty="0"/>
          </a:p>
        </p:txBody>
      </p:sp>
      <p:sp>
        <p:nvSpPr>
          <p:cNvPr id="9" name="Shape 7"/>
          <p:cNvSpPr/>
          <p:nvPr/>
        </p:nvSpPr>
        <p:spPr>
          <a:xfrm>
            <a:off x="6400800" y="2148840"/>
            <a:ext cx="2286000" cy="1005840"/>
          </a:xfrm>
          <a:prstGeom prst="rect">
            <a:avLst/>
          </a:prstGeom>
          <a:solidFill>
            <a:srgbClr val="0F1923"/>
          </a:solidFill>
          <a:ln w="12700">
            <a:solidFill>
              <a:srgbClr val="0F1923"/>
            </a:solidFill>
            <a:prstDash val="solid"/>
          </a:ln>
          <a:effectLst>
            <a:outerShdw blurRad="101600" dist="38100" dir="8100000" algn="bl" rotWithShape="0">
              <a:srgbClr val="000000">
                <a:alpha val="12000"/>
              </a:srgbClr>
            </a:outerShdw>
          </a:effectLst>
        </p:spPr>
        <p:txBody>
          <a:bodyPr/>
          <a:lstStyle/>
          <a:p>
            <a:endParaRPr lang="es-MX"/>
          </a:p>
        </p:txBody>
      </p:sp>
      <p:sp>
        <p:nvSpPr>
          <p:cNvPr id="10" name="Text 8"/>
          <p:cNvSpPr/>
          <p:nvPr/>
        </p:nvSpPr>
        <p:spPr>
          <a:xfrm>
            <a:off x="6400800" y="2194560"/>
            <a:ext cx="2286000" cy="548640"/>
          </a:xfrm>
          <a:prstGeom prst="rect">
            <a:avLst/>
          </a:prstGeom>
          <a:noFill/>
          <a:ln/>
        </p:spPr>
        <p:txBody>
          <a:bodyPr wrap="square" lIns="0" tIns="0" rIns="0" bIns="0" rtlCol="0" anchor="ctr"/>
          <a:lstStyle/>
          <a:p>
            <a:pPr marL="0" indent="0" algn="ctr">
              <a:buNone/>
            </a:pPr>
            <a:r>
              <a:rPr lang="en-US" sz="3200" b="1" dirty="0">
                <a:solidFill>
                  <a:srgbClr val="F5C842"/>
                </a:solidFill>
                <a:latin typeface="Calibri" pitchFamily="34" charset="0"/>
                <a:ea typeface="Calibri" pitchFamily="34" charset="-122"/>
                <a:cs typeface="Calibri" pitchFamily="34" charset="-120"/>
              </a:rPr>
              <a:t>11</a:t>
            </a:r>
            <a:endParaRPr lang="en-US" sz="3200" dirty="0"/>
          </a:p>
        </p:txBody>
      </p:sp>
      <p:sp>
        <p:nvSpPr>
          <p:cNvPr id="11" name="Text 9"/>
          <p:cNvSpPr/>
          <p:nvPr/>
        </p:nvSpPr>
        <p:spPr>
          <a:xfrm>
            <a:off x="6400800" y="2743200"/>
            <a:ext cx="228600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años de historia</a:t>
            </a:r>
            <a:endParaRPr lang="en-US" sz="1100" dirty="0"/>
          </a:p>
        </p:txBody>
      </p:sp>
      <p:sp>
        <p:nvSpPr>
          <p:cNvPr id="12" name="Shape 10"/>
          <p:cNvSpPr/>
          <p:nvPr/>
        </p:nvSpPr>
        <p:spPr>
          <a:xfrm>
            <a:off x="6400800" y="3337560"/>
            <a:ext cx="2286000" cy="1005840"/>
          </a:xfrm>
          <a:prstGeom prst="rect">
            <a:avLst/>
          </a:prstGeom>
          <a:solidFill>
            <a:srgbClr val="0F1923"/>
          </a:solidFill>
          <a:ln w="12700">
            <a:solidFill>
              <a:srgbClr val="0F1923"/>
            </a:solidFill>
            <a:prstDash val="solid"/>
          </a:ln>
          <a:effectLst>
            <a:outerShdw blurRad="101600" dist="38100" dir="8100000" algn="bl" rotWithShape="0">
              <a:srgbClr val="000000">
                <a:alpha val="12000"/>
              </a:srgbClr>
            </a:outerShdw>
          </a:effectLst>
        </p:spPr>
        <p:txBody>
          <a:bodyPr/>
          <a:lstStyle/>
          <a:p>
            <a:endParaRPr lang="es-MX"/>
          </a:p>
        </p:txBody>
      </p:sp>
      <p:sp>
        <p:nvSpPr>
          <p:cNvPr id="13" name="Text 11"/>
          <p:cNvSpPr/>
          <p:nvPr/>
        </p:nvSpPr>
        <p:spPr>
          <a:xfrm>
            <a:off x="6400800" y="3383280"/>
            <a:ext cx="2286000" cy="548640"/>
          </a:xfrm>
          <a:prstGeom prst="rect">
            <a:avLst/>
          </a:prstGeom>
          <a:noFill/>
          <a:ln/>
        </p:spPr>
        <p:txBody>
          <a:bodyPr wrap="square" lIns="0" tIns="0" rIns="0" bIns="0" rtlCol="0" anchor="ctr"/>
          <a:lstStyle/>
          <a:p>
            <a:pPr marL="0" indent="0" algn="ctr">
              <a:buNone/>
            </a:pPr>
            <a:r>
              <a:rPr lang="en-US" sz="3200" b="1" dirty="0">
                <a:solidFill>
                  <a:srgbClr val="F5C842"/>
                </a:solidFill>
                <a:latin typeface="Calibri" pitchFamily="34" charset="0"/>
                <a:ea typeface="Calibri" pitchFamily="34" charset="-122"/>
                <a:cs typeface="Calibri" pitchFamily="34" charset="-120"/>
              </a:rPr>
              <a:t>0</a:t>
            </a:r>
            <a:endParaRPr lang="en-US" sz="3200" dirty="0"/>
          </a:p>
        </p:txBody>
      </p:sp>
      <p:sp>
        <p:nvSpPr>
          <p:cNvPr id="14" name="Text 12"/>
          <p:cNvSpPr/>
          <p:nvPr/>
        </p:nvSpPr>
        <p:spPr>
          <a:xfrm>
            <a:off x="6400800" y="3931920"/>
            <a:ext cx="228600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valores nulos</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669280" cy="3108960"/>
        </p:xfrm>
        <a:graphic>
          <a:graphicData uri="http://schemas.openxmlformats.org/drawingml/2006/table">
            <a:tbl>
              <a:tblPr/>
              <a:tblGrid>
                <a:gridCol w="21031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56692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Variable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2E40"/>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Descripción</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2E40"/>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2E40"/>
                    </a:solidFill>
                  </a:tcPr>
                </a:tc>
                <a:extLst>
                  <a:ext uri="{0D108BD9-81ED-4DB2-BD59-A6C34878D82A}">
                    <a16:rowId xmlns:a16="http://schemas.microsoft.com/office/drawing/2014/main" val="10000"/>
                  </a:ext>
                </a:extLst>
              </a:tr>
              <a:tr h="56692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Gold_Price_XAU_USD</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Precio del oro (USD/oz)</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 Target</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US_Dollar_Index_DXY</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Índice del dólar frente a divisas</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Predictor</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Crude_Oil_Price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Precio del petróleo (USD/bbl)</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Predictor</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Inflation_Rate_Pct</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Tasa de inflación global (%)</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Predictor</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0D9488"/>
          </a:solidFill>
          <a:ln w="12700">
            <a:solidFill>
              <a:srgbClr val="0D9488"/>
            </a:solidFill>
            <a:prstDash val="solid"/>
          </a:ln>
        </p:spPr>
        <p:txBody>
          <a:bodyPr/>
          <a:lstStyle/>
          <a:p>
            <a:endParaRPr lang="es-MX"/>
          </a:p>
        </p:txBody>
      </p:sp>
      <p:sp>
        <p:nvSpPr>
          <p:cNvPr id="3" name="Text 1"/>
          <p:cNvSpPr/>
          <p:nvPr/>
        </p:nvSpPr>
        <p:spPr>
          <a:xfrm>
            <a:off x="457200" y="320040"/>
            <a:ext cx="8229600" cy="594360"/>
          </a:xfrm>
          <a:prstGeom prst="rect">
            <a:avLst/>
          </a:prstGeom>
          <a:noFill/>
          <a:ln/>
        </p:spPr>
        <p:txBody>
          <a:bodyPr wrap="square" lIns="0" tIns="0" rIns="0" bIns="0" rtlCol="0" anchor="ctr"/>
          <a:lstStyle/>
          <a:p>
            <a:pPr marL="0" indent="0">
              <a:buNone/>
            </a:pPr>
            <a:r>
              <a:rPr lang="en-US" sz="3000" b="1" dirty="0">
                <a:solidFill>
                  <a:srgbClr val="1E2A38"/>
                </a:solidFill>
                <a:latin typeface="Calibri" pitchFamily="34" charset="0"/>
                <a:ea typeface="Calibri" pitchFamily="34" charset="-122"/>
                <a:cs typeface="Calibri" pitchFamily="34" charset="-120"/>
              </a:rPr>
              <a:t>Análisis Exploratorio (EDA)</a:t>
            </a:r>
            <a:endParaRPr lang="en-US" sz="3000" dirty="0"/>
          </a:p>
        </p:txBody>
      </p:sp>
      <p:sp>
        <p:nvSpPr>
          <p:cNvPr id="4" name="Shape 2"/>
          <p:cNvSpPr/>
          <p:nvPr/>
        </p:nvSpPr>
        <p:spPr>
          <a:xfrm>
            <a:off x="457200" y="1097280"/>
            <a:ext cx="4114800" cy="16916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5" name="Shape 3"/>
          <p:cNvSpPr/>
          <p:nvPr/>
        </p:nvSpPr>
        <p:spPr>
          <a:xfrm>
            <a:off x="457200" y="1097280"/>
            <a:ext cx="128016" cy="1691640"/>
          </a:xfrm>
          <a:prstGeom prst="rect">
            <a:avLst/>
          </a:prstGeom>
          <a:solidFill>
            <a:srgbClr val="0D9488"/>
          </a:solidFill>
          <a:ln w="12700">
            <a:solidFill>
              <a:srgbClr val="0D9488"/>
            </a:solidFill>
            <a:prstDash val="solid"/>
          </a:ln>
        </p:spPr>
        <p:txBody>
          <a:bodyPr/>
          <a:lstStyle/>
          <a:p>
            <a:endParaRPr lang="es-MX"/>
          </a:p>
        </p:txBody>
      </p:sp>
      <p:sp>
        <p:nvSpPr>
          <p:cNvPr id="6" name="Text 4"/>
          <p:cNvSpPr/>
          <p:nvPr/>
        </p:nvSpPr>
        <p:spPr>
          <a:xfrm>
            <a:off x="685800" y="1188720"/>
            <a:ext cx="3749040" cy="384048"/>
          </a:xfrm>
          <a:prstGeom prst="rect">
            <a:avLst/>
          </a:prstGeom>
          <a:noFill/>
          <a:ln/>
        </p:spPr>
        <p:txBody>
          <a:bodyPr wrap="square" lIns="0" tIns="0" rIns="0" bIns="0" rtlCol="0" anchor="ctr"/>
          <a:lstStyle/>
          <a:p>
            <a:pPr marL="0" indent="0">
              <a:buNone/>
            </a:pPr>
            <a:r>
              <a:rPr lang="en-US" sz="1300" b="1" dirty="0">
                <a:solidFill>
                  <a:srgbClr val="1E2A38"/>
                </a:solidFill>
                <a:latin typeface="Calibri" pitchFamily="34" charset="0"/>
                <a:ea typeface="Calibri" pitchFamily="34" charset="-122"/>
                <a:cs typeface="Calibri" pitchFamily="34" charset="-120"/>
              </a:rPr>
              <a:t>📈  Tendencia alcista del oro</a:t>
            </a:r>
            <a:endParaRPr lang="en-US" sz="1300" dirty="0"/>
          </a:p>
        </p:txBody>
      </p:sp>
      <p:sp>
        <p:nvSpPr>
          <p:cNvPr id="7" name="Text 5"/>
          <p:cNvSpPr/>
          <p:nvPr/>
        </p:nvSpPr>
        <p:spPr>
          <a:xfrm>
            <a:off x="685800" y="1572768"/>
            <a:ext cx="3794760" cy="109728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El precio pasó de ~1,100 USD en 2015 a más de 2,600 USD en 2026, con aceleraciones durante COVID-19 (2020) y el ciclo geopolítico 2022–2024.</a:t>
            </a:r>
            <a:endParaRPr lang="en-US" sz="1050" dirty="0"/>
          </a:p>
        </p:txBody>
      </p:sp>
      <p:sp>
        <p:nvSpPr>
          <p:cNvPr id="8" name="Shape 6"/>
          <p:cNvSpPr/>
          <p:nvPr/>
        </p:nvSpPr>
        <p:spPr>
          <a:xfrm>
            <a:off x="4846320" y="1097280"/>
            <a:ext cx="4114800" cy="16916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9" name="Shape 7"/>
          <p:cNvSpPr/>
          <p:nvPr/>
        </p:nvSpPr>
        <p:spPr>
          <a:xfrm>
            <a:off x="4846320" y="1097280"/>
            <a:ext cx="128016" cy="1691640"/>
          </a:xfrm>
          <a:prstGeom prst="rect">
            <a:avLst/>
          </a:prstGeom>
          <a:solidFill>
            <a:srgbClr val="0D9488"/>
          </a:solidFill>
          <a:ln w="12700">
            <a:solidFill>
              <a:srgbClr val="0D9488"/>
            </a:solidFill>
            <a:prstDash val="solid"/>
          </a:ln>
        </p:spPr>
        <p:txBody>
          <a:bodyPr/>
          <a:lstStyle/>
          <a:p>
            <a:endParaRPr lang="es-MX"/>
          </a:p>
        </p:txBody>
      </p:sp>
      <p:sp>
        <p:nvSpPr>
          <p:cNvPr id="10" name="Text 8"/>
          <p:cNvSpPr/>
          <p:nvPr/>
        </p:nvSpPr>
        <p:spPr>
          <a:xfrm>
            <a:off x="5074920" y="1188720"/>
            <a:ext cx="3749040" cy="384048"/>
          </a:xfrm>
          <a:prstGeom prst="rect">
            <a:avLst/>
          </a:prstGeom>
          <a:noFill/>
          <a:ln/>
        </p:spPr>
        <p:txBody>
          <a:bodyPr wrap="square" lIns="0" tIns="0" rIns="0" bIns="0" rtlCol="0" anchor="ctr"/>
          <a:lstStyle/>
          <a:p>
            <a:pPr marL="0" indent="0">
              <a:buNone/>
            </a:pPr>
            <a:r>
              <a:rPr lang="en-US" sz="1300" b="1" dirty="0">
                <a:solidFill>
                  <a:srgbClr val="1E2A38"/>
                </a:solidFill>
                <a:latin typeface="Calibri" pitchFamily="34" charset="0"/>
                <a:ea typeface="Calibri" pitchFamily="34" charset="-122"/>
                <a:cs typeface="Calibri" pitchFamily="34" charset="-120"/>
              </a:rPr>
              <a:t>💵  Relación inversa con el dólar</a:t>
            </a:r>
            <a:endParaRPr lang="en-US" sz="1300" dirty="0"/>
          </a:p>
        </p:txBody>
      </p:sp>
      <p:sp>
        <p:nvSpPr>
          <p:cNvPr id="11" name="Text 9"/>
          <p:cNvSpPr/>
          <p:nvPr/>
        </p:nvSpPr>
        <p:spPr>
          <a:xfrm>
            <a:off x="5074920" y="1572768"/>
            <a:ext cx="3794760" cy="109728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El DXY y el oro muestran correlación negativa consistente con la teoría económica: cuando el dólar se fortalece, el oro tiende a bajar.</a:t>
            </a:r>
            <a:endParaRPr lang="en-US" sz="1050" dirty="0"/>
          </a:p>
        </p:txBody>
      </p:sp>
      <p:sp>
        <p:nvSpPr>
          <p:cNvPr id="12" name="Shape 10"/>
          <p:cNvSpPr/>
          <p:nvPr/>
        </p:nvSpPr>
        <p:spPr>
          <a:xfrm>
            <a:off x="457200" y="2971800"/>
            <a:ext cx="4114800" cy="16916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13" name="Shape 11"/>
          <p:cNvSpPr/>
          <p:nvPr/>
        </p:nvSpPr>
        <p:spPr>
          <a:xfrm>
            <a:off x="457200" y="2971800"/>
            <a:ext cx="128016" cy="1691640"/>
          </a:xfrm>
          <a:prstGeom prst="rect">
            <a:avLst/>
          </a:prstGeom>
          <a:solidFill>
            <a:srgbClr val="0D9488"/>
          </a:solidFill>
          <a:ln w="12700">
            <a:solidFill>
              <a:srgbClr val="0D9488"/>
            </a:solidFill>
            <a:prstDash val="solid"/>
          </a:ln>
        </p:spPr>
        <p:txBody>
          <a:bodyPr/>
          <a:lstStyle/>
          <a:p>
            <a:endParaRPr lang="es-MX"/>
          </a:p>
        </p:txBody>
      </p:sp>
      <p:sp>
        <p:nvSpPr>
          <p:cNvPr id="14" name="Text 12"/>
          <p:cNvSpPr/>
          <p:nvPr/>
        </p:nvSpPr>
        <p:spPr>
          <a:xfrm>
            <a:off x="685800" y="3063240"/>
            <a:ext cx="3749040" cy="384048"/>
          </a:xfrm>
          <a:prstGeom prst="rect">
            <a:avLst/>
          </a:prstGeom>
          <a:noFill/>
          <a:ln/>
        </p:spPr>
        <p:txBody>
          <a:bodyPr wrap="square" lIns="0" tIns="0" rIns="0" bIns="0" rtlCol="0" anchor="ctr"/>
          <a:lstStyle/>
          <a:p>
            <a:pPr marL="0" indent="0">
              <a:buNone/>
            </a:pPr>
            <a:r>
              <a:rPr lang="en-US" sz="1300" b="1" dirty="0">
                <a:solidFill>
                  <a:srgbClr val="1E2A38"/>
                </a:solidFill>
                <a:latin typeface="Calibri" pitchFamily="34" charset="0"/>
                <a:ea typeface="Calibri" pitchFamily="34" charset="-122"/>
                <a:cs typeface="Calibri" pitchFamily="34" charset="-120"/>
              </a:rPr>
              <a:t>🛢️  Petróleo: evento extremo en 2020</a:t>
            </a:r>
            <a:endParaRPr lang="en-US" sz="1300" dirty="0"/>
          </a:p>
        </p:txBody>
      </p:sp>
      <p:sp>
        <p:nvSpPr>
          <p:cNvPr id="15" name="Text 13"/>
          <p:cNvSpPr/>
          <p:nvPr/>
        </p:nvSpPr>
        <p:spPr>
          <a:xfrm>
            <a:off x="685800" y="3447288"/>
            <a:ext cx="3794760" cy="109728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El petróleo colapsó a valores negativos en futuros WTI (abril 2020), el evento atípico más pronunciado de la serie.</a:t>
            </a:r>
            <a:endParaRPr lang="en-US" sz="1050" dirty="0"/>
          </a:p>
        </p:txBody>
      </p:sp>
      <p:sp>
        <p:nvSpPr>
          <p:cNvPr id="16" name="Shape 14"/>
          <p:cNvSpPr/>
          <p:nvPr/>
        </p:nvSpPr>
        <p:spPr>
          <a:xfrm>
            <a:off x="4846320" y="2971800"/>
            <a:ext cx="4114800" cy="16916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17" name="Shape 15"/>
          <p:cNvSpPr/>
          <p:nvPr/>
        </p:nvSpPr>
        <p:spPr>
          <a:xfrm>
            <a:off x="4846320" y="2971800"/>
            <a:ext cx="128016" cy="1691640"/>
          </a:xfrm>
          <a:prstGeom prst="rect">
            <a:avLst/>
          </a:prstGeom>
          <a:solidFill>
            <a:srgbClr val="0D9488"/>
          </a:solidFill>
          <a:ln w="12700">
            <a:solidFill>
              <a:srgbClr val="0D9488"/>
            </a:solidFill>
            <a:prstDash val="solid"/>
          </a:ln>
        </p:spPr>
        <p:txBody>
          <a:bodyPr/>
          <a:lstStyle/>
          <a:p>
            <a:endParaRPr lang="es-MX"/>
          </a:p>
        </p:txBody>
      </p:sp>
      <p:sp>
        <p:nvSpPr>
          <p:cNvPr id="18" name="Text 16"/>
          <p:cNvSpPr/>
          <p:nvPr/>
        </p:nvSpPr>
        <p:spPr>
          <a:xfrm>
            <a:off x="5074920" y="3063240"/>
            <a:ext cx="3749040" cy="384048"/>
          </a:xfrm>
          <a:prstGeom prst="rect">
            <a:avLst/>
          </a:prstGeom>
          <a:noFill/>
          <a:ln/>
        </p:spPr>
        <p:txBody>
          <a:bodyPr wrap="square" lIns="0" tIns="0" rIns="0" bIns="0" rtlCol="0" anchor="ctr"/>
          <a:lstStyle/>
          <a:p>
            <a:pPr marL="0" indent="0">
              <a:buNone/>
            </a:pPr>
            <a:r>
              <a:rPr lang="en-US" sz="1300" b="1" dirty="0">
                <a:solidFill>
                  <a:srgbClr val="1E2A38"/>
                </a:solidFill>
                <a:latin typeface="Calibri" pitchFamily="34" charset="0"/>
                <a:ea typeface="Calibri" pitchFamily="34" charset="-122"/>
                <a:cs typeface="Calibri" pitchFamily="34" charset="-120"/>
              </a:rPr>
              <a:t>🔥  Inflación: pico y descenso</a:t>
            </a:r>
            <a:endParaRPr lang="en-US" sz="1300" dirty="0"/>
          </a:p>
        </p:txBody>
      </p:sp>
      <p:sp>
        <p:nvSpPr>
          <p:cNvPr id="19" name="Text 17"/>
          <p:cNvSpPr/>
          <p:nvPr/>
        </p:nvSpPr>
        <p:spPr>
          <a:xfrm>
            <a:off x="5074920" y="3447288"/>
            <a:ext cx="3794760" cy="109728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Baja y estable hasta 2020, pico pronunciado en 2021–2022, y descenso posterior consistente con el ciclo de alzas de la Fed.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DAA520"/>
          </a:solidFill>
          <a:ln w="12700">
            <a:solidFill>
              <a:srgbClr val="DAA520"/>
            </a:solidFill>
            <a:prstDash val="solid"/>
          </a:ln>
        </p:spPr>
        <p:txBody>
          <a:bodyPr/>
          <a:lstStyle/>
          <a:p>
            <a:endParaRPr lang="es-MX"/>
          </a:p>
        </p:txBody>
      </p:sp>
      <p:sp>
        <p:nvSpPr>
          <p:cNvPr id="3" name="Text 1"/>
          <p:cNvSpPr/>
          <p:nvPr/>
        </p:nvSpPr>
        <p:spPr>
          <a:xfrm>
            <a:off x="457200" y="320040"/>
            <a:ext cx="8229600" cy="594360"/>
          </a:xfrm>
          <a:prstGeom prst="rect">
            <a:avLst/>
          </a:prstGeom>
          <a:noFill/>
          <a:ln/>
        </p:spPr>
        <p:txBody>
          <a:bodyPr wrap="square" lIns="0" tIns="0" rIns="0" bIns="0" rtlCol="0" anchor="ctr"/>
          <a:lstStyle/>
          <a:p>
            <a:pPr marL="0" indent="0">
              <a:buNone/>
            </a:pPr>
            <a:r>
              <a:rPr lang="en-US" sz="2800" b="1" dirty="0">
                <a:solidFill>
                  <a:srgbClr val="1E2A38"/>
                </a:solidFill>
                <a:latin typeface="Calibri" pitchFamily="34" charset="0"/>
                <a:ea typeface="Calibri" pitchFamily="34" charset="-122"/>
                <a:cs typeface="Calibri" pitchFamily="34" charset="-120"/>
              </a:rPr>
              <a:t>Ingeniería de Características Temporales</a:t>
            </a:r>
            <a:endParaRPr lang="en-US" sz="2800" dirty="0"/>
          </a:p>
        </p:txBody>
      </p:sp>
      <p:sp>
        <p:nvSpPr>
          <p:cNvPr id="4" name="Shape 2"/>
          <p:cNvSpPr/>
          <p:nvPr/>
        </p:nvSpPr>
        <p:spPr>
          <a:xfrm>
            <a:off x="457200" y="1005840"/>
            <a:ext cx="8229600" cy="822960"/>
          </a:xfrm>
          <a:prstGeom prst="rect">
            <a:avLst/>
          </a:prstGeom>
          <a:solidFill>
            <a:srgbClr val="1A2E40"/>
          </a:solidFill>
          <a:ln w="12700">
            <a:solidFill>
              <a:srgbClr val="1A2E40"/>
            </a:solidFill>
            <a:prstDash val="solid"/>
          </a:ln>
          <a:effectLst>
            <a:outerShdw blurRad="101600" dist="38100" dir="8100000" algn="bl" rotWithShape="0">
              <a:srgbClr val="000000">
                <a:alpha val="12000"/>
              </a:srgbClr>
            </a:outerShdw>
          </a:effectLst>
        </p:spPr>
        <p:txBody>
          <a:bodyPr/>
          <a:lstStyle/>
          <a:p>
            <a:endParaRPr lang="es-MX"/>
          </a:p>
        </p:txBody>
      </p:sp>
      <p:sp>
        <p:nvSpPr>
          <p:cNvPr id="5" name="Text 3"/>
          <p:cNvSpPr/>
          <p:nvPr/>
        </p:nvSpPr>
        <p:spPr>
          <a:xfrm>
            <a:off x="640080" y="1024128"/>
            <a:ext cx="7863840" cy="786384"/>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¿Por qué?  Las variables originales no capturan la persistencia temporal del precio del oro. Se construyen features derivadas usando sólo información disponible en el momento de predecir (día anterior), evitando data leakage.</a:t>
            </a:r>
            <a:endParaRPr lang="en-US" sz="1200" dirty="0"/>
          </a:p>
        </p:txBody>
      </p:sp>
      <p:sp>
        <p:nvSpPr>
          <p:cNvPr id="6" name="Shape 4"/>
          <p:cNvSpPr/>
          <p:nvPr/>
        </p:nvSpPr>
        <p:spPr>
          <a:xfrm>
            <a:off x="457200" y="2011680"/>
            <a:ext cx="2606040" cy="411480"/>
          </a:xfrm>
          <a:prstGeom prst="rect">
            <a:avLst/>
          </a:prstGeom>
          <a:solidFill>
            <a:srgbClr val="DAA520"/>
          </a:solidFill>
          <a:ln w="12700">
            <a:solidFill>
              <a:srgbClr val="DAA520"/>
            </a:solidFill>
            <a:prstDash val="solid"/>
          </a:ln>
        </p:spPr>
        <p:txBody>
          <a:bodyPr/>
          <a:lstStyle/>
          <a:p>
            <a:endParaRPr lang="es-MX"/>
          </a:p>
        </p:txBody>
      </p:sp>
      <p:sp>
        <p:nvSpPr>
          <p:cNvPr id="7" name="Text 5"/>
          <p:cNvSpPr/>
          <p:nvPr/>
        </p:nvSpPr>
        <p:spPr>
          <a:xfrm>
            <a:off x="457200" y="2011680"/>
            <a:ext cx="260604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Rezagos del Oro</a:t>
            </a:r>
            <a:endParaRPr lang="en-US" sz="1200" dirty="0"/>
          </a:p>
        </p:txBody>
      </p:sp>
      <p:sp>
        <p:nvSpPr>
          <p:cNvPr id="8" name="Shape 6"/>
          <p:cNvSpPr/>
          <p:nvPr/>
        </p:nvSpPr>
        <p:spPr>
          <a:xfrm>
            <a:off x="457200" y="2423160"/>
            <a:ext cx="2606040" cy="2103120"/>
          </a:xfrm>
          <a:prstGeom prst="rect">
            <a:avLst/>
          </a:prstGeom>
          <a:solidFill>
            <a:srgbClr val="FFFFFF"/>
          </a:solidFill>
          <a:ln w="12700">
            <a:solidFill>
              <a:srgbClr val="E2E8F0"/>
            </a:solidFill>
            <a:prstDash val="solid"/>
          </a:ln>
        </p:spPr>
        <p:txBody>
          <a:bodyPr/>
          <a:lstStyle/>
          <a:p>
            <a:endParaRPr lang="es-MX"/>
          </a:p>
        </p:txBody>
      </p:sp>
      <p:sp>
        <p:nvSpPr>
          <p:cNvPr id="9" name="Text 7"/>
          <p:cNvSpPr/>
          <p:nvPr/>
        </p:nvSpPr>
        <p:spPr>
          <a:xfrm>
            <a:off x="594360" y="2514600"/>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Gold_lag_1  (t−1)</a:t>
            </a:r>
            <a:endParaRPr lang="en-US" sz="1100" dirty="0"/>
          </a:p>
        </p:txBody>
      </p:sp>
      <p:sp>
        <p:nvSpPr>
          <p:cNvPr id="10" name="Text 8"/>
          <p:cNvSpPr/>
          <p:nvPr/>
        </p:nvSpPr>
        <p:spPr>
          <a:xfrm>
            <a:off x="594360" y="2898648"/>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Gold_lag_2  (t−2)</a:t>
            </a:r>
            <a:endParaRPr lang="en-US" sz="1100" dirty="0"/>
          </a:p>
        </p:txBody>
      </p:sp>
      <p:sp>
        <p:nvSpPr>
          <p:cNvPr id="11" name="Text 9"/>
          <p:cNvSpPr/>
          <p:nvPr/>
        </p:nvSpPr>
        <p:spPr>
          <a:xfrm>
            <a:off x="594360" y="3282696"/>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Gold_lag_3  (t−3)</a:t>
            </a:r>
            <a:endParaRPr lang="en-US" sz="1100" dirty="0"/>
          </a:p>
        </p:txBody>
      </p:sp>
      <p:sp>
        <p:nvSpPr>
          <p:cNvPr id="12" name="Text 10"/>
          <p:cNvSpPr/>
          <p:nvPr/>
        </p:nvSpPr>
        <p:spPr>
          <a:xfrm>
            <a:off x="594360" y="3666744"/>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Gold_lag_5  (t−5)</a:t>
            </a:r>
            <a:endParaRPr lang="en-US" sz="1100" dirty="0"/>
          </a:p>
        </p:txBody>
      </p:sp>
      <p:sp>
        <p:nvSpPr>
          <p:cNvPr id="13" name="Text 11"/>
          <p:cNvSpPr/>
          <p:nvPr/>
        </p:nvSpPr>
        <p:spPr>
          <a:xfrm>
            <a:off x="594360" y="4050792"/>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Gold_lag_10 (t−10)</a:t>
            </a:r>
            <a:endParaRPr lang="en-US" sz="1100" dirty="0"/>
          </a:p>
        </p:txBody>
      </p:sp>
      <p:sp>
        <p:nvSpPr>
          <p:cNvPr id="14" name="Shape 12"/>
          <p:cNvSpPr/>
          <p:nvPr/>
        </p:nvSpPr>
        <p:spPr>
          <a:xfrm>
            <a:off x="3291840" y="2011680"/>
            <a:ext cx="2606040" cy="411480"/>
          </a:xfrm>
          <a:prstGeom prst="rect">
            <a:avLst/>
          </a:prstGeom>
          <a:solidFill>
            <a:srgbClr val="0D9488"/>
          </a:solidFill>
          <a:ln w="12700">
            <a:solidFill>
              <a:srgbClr val="0D9488"/>
            </a:solidFill>
            <a:prstDash val="solid"/>
          </a:ln>
        </p:spPr>
        <p:txBody>
          <a:bodyPr/>
          <a:lstStyle/>
          <a:p>
            <a:endParaRPr lang="es-MX"/>
          </a:p>
        </p:txBody>
      </p:sp>
      <p:sp>
        <p:nvSpPr>
          <p:cNvPr id="15" name="Text 13"/>
          <p:cNvSpPr/>
          <p:nvPr/>
        </p:nvSpPr>
        <p:spPr>
          <a:xfrm>
            <a:off x="3291840" y="2011680"/>
            <a:ext cx="260604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Medias Móviles</a:t>
            </a:r>
            <a:endParaRPr lang="en-US" sz="1200" dirty="0"/>
          </a:p>
        </p:txBody>
      </p:sp>
      <p:sp>
        <p:nvSpPr>
          <p:cNvPr id="16" name="Shape 14"/>
          <p:cNvSpPr/>
          <p:nvPr/>
        </p:nvSpPr>
        <p:spPr>
          <a:xfrm>
            <a:off x="3291840" y="2423160"/>
            <a:ext cx="2606040" cy="1335024"/>
          </a:xfrm>
          <a:prstGeom prst="rect">
            <a:avLst/>
          </a:prstGeom>
          <a:solidFill>
            <a:srgbClr val="FFFFFF"/>
          </a:solidFill>
          <a:ln w="12700">
            <a:solidFill>
              <a:srgbClr val="E2E8F0"/>
            </a:solidFill>
            <a:prstDash val="solid"/>
          </a:ln>
        </p:spPr>
        <p:txBody>
          <a:bodyPr/>
          <a:lstStyle/>
          <a:p>
            <a:endParaRPr lang="es-MX"/>
          </a:p>
        </p:txBody>
      </p:sp>
      <p:sp>
        <p:nvSpPr>
          <p:cNvPr id="17" name="Text 15"/>
          <p:cNvSpPr/>
          <p:nvPr/>
        </p:nvSpPr>
        <p:spPr>
          <a:xfrm>
            <a:off x="3429000" y="2514600"/>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Gold_ma_5   (5 días)</a:t>
            </a:r>
            <a:endParaRPr lang="en-US" sz="1100" dirty="0"/>
          </a:p>
        </p:txBody>
      </p:sp>
      <p:sp>
        <p:nvSpPr>
          <p:cNvPr id="18" name="Text 16"/>
          <p:cNvSpPr/>
          <p:nvPr/>
        </p:nvSpPr>
        <p:spPr>
          <a:xfrm>
            <a:off x="3429000" y="2898648"/>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Gold_ma_10 (10 días)</a:t>
            </a:r>
            <a:endParaRPr lang="en-US" sz="1100" dirty="0"/>
          </a:p>
        </p:txBody>
      </p:sp>
      <p:sp>
        <p:nvSpPr>
          <p:cNvPr id="19" name="Text 17"/>
          <p:cNvSpPr/>
          <p:nvPr/>
        </p:nvSpPr>
        <p:spPr>
          <a:xfrm>
            <a:off x="3429000" y="3282696"/>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Gold_ma_20 (20 días)</a:t>
            </a:r>
            <a:endParaRPr lang="en-US" sz="1100" dirty="0"/>
          </a:p>
        </p:txBody>
      </p:sp>
      <p:sp>
        <p:nvSpPr>
          <p:cNvPr id="20" name="Shape 18"/>
          <p:cNvSpPr/>
          <p:nvPr/>
        </p:nvSpPr>
        <p:spPr>
          <a:xfrm>
            <a:off x="6126480" y="2011680"/>
            <a:ext cx="2606040" cy="411480"/>
          </a:xfrm>
          <a:prstGeom prst="rect">
            <a:avLst/>
          </a:prstGeom>
          <a:solidFill>
            <a:srgbClr val="6366F1"/>
          </a:solidFill>
          <a:ln w="12700">
            <a:solidFill>
              <a:srgbClr val="6366F1"/>
            </a:solidFill>
            <a:prstDash val="solid"/>
          </a:ln>
        </p:spPr>
        <p:txBody>
          <a:bodyPr/>
          <a:lstStyle/>
          <a:p>
            <a:endParaRPr lang="es-MX"/>
          </a:p>
        </p:txBody>
      </p:sp>
      <p:sp>
        <p:nvSpPr>
          <p:cNvPr id="21" name="Text 19"/>
          <p:cNvSpPr/>
          <p:nvPr/>
        </p:nvSpPr>
        <p:spPr>
          <a:xfrm>
            <a:off x="6126480" y="2011680"/>
            <a:ext cx="260604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Indicadores (lag 1)</a:t>
            </a:r>
            <a:endParaRPr lang="en-US" sz="1200" dirty="0"/>
          </a:p>
        </p:txBody>
      </p:sp>
      <p:sp>
        <p:nvSpPr>
          <p:cNvPr id="22" name="Shape 20"/>
          <p:cNvSpPr/>
          <p:nvPr/>
        </p:nvSpPr>
        <p:spPr>
          <a:xfrm>
            <a:off x="6126480" y="2423160"/>
            <a:ext cx="2606040" cy="1335024"/>
          </a:xfrm>
          <a:prstGeom prst="rect">
            <a:avLst/>
          </a:prstGeom>
          <a:solidFill>
            <a:srgbClr val="FFFFFF"/>
          </a:solidFill>
          <a:ln w="12700">
            <a:solidFill>
              <a:srgbClr val="E2E8F0"/>
            </a:solidFill>
            <a:prstDash val="solid"/>
          </a:ln>
        </p:spPr>
        <p:txBody>
          <a:bodyPr/>
          <a:lstStyle/>
          <a:p>
            <a:endParaRPr lang="es-MX"/>
          </a:p>
        </p:txBody>
      </p:sp>
      <p:sp>
        <p:nvSpPr>
          <p:cNvPr id="23" name="Text 21"/>
          <p:cNvSpPr/>
          <p:nvPr/>
        </p:nvSpPr>
        <p:spPr>
          <a:xfrm>
            <a:off x="6263640" y="2514600"/>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DXY_lag1</a:t>
            </a:r>
            <a:endParaRPr lang="en-US" sz="1100" dirty="0"/>
          </a:p>
        </p:txBody>
      </p:sp>
      <p:sp>
        <p:nvSpPr>
          <p:cNvPr id="24" name="Text 22"/>
          <p:cNvSpPr/>
          <p:nvPr/>
        </p:nvSpPr>
        <p:spPr>
          <a:xfrm>
            <a:off x="6263640" y="2898648"/>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Crude_Oil_lag1</a:t>
            </a:r>
            <a:endParaRPr lang="en-US" sz="1100" dirty="0"/>
          </a:p>
        </p:txBody>
      </p:sp>
      <p:sp>
        <p:nvSpPr>
          <p:cNvPr id="25" name="Text 23"/>
          <p:cNvSpPr/>
          <p:nvPr/>
        </p:nvSpPr>
        <p:spPr>
          <a:xfrm>
            <a:off x="6263640" y="3282696"/>
            <a:ext cx="2331720" cy="347472"/>
          </a:xfrm>
          <a:prstGeom prst="rect">
            <a:avLst/>
          </a:prstGeom>
          <a:noFill/>
          <a:ln/>
        </p:spPr>
        <p:txBody>
          <a:bodyPr wrap="square" lIns="0" tIns="0" rIns="0" bIns="0" rtlCol="0" anchor="ctr"/>
          <a:lstStyle/>
          <a:p>
            <a:pPr marL="0" indent="0">
              <a:buNone/>
            </a:pPr>
            <a:r>
              <a:rPr lang="en-US" sz="1100" dirty="0">
                <a:solidFill>
                  <a:srgbClr val="1E2A38"/>
                </a:solidFill>
                <a:latin typeface="Calibri" pitchFamily="34" charset="0"/>
                <a:ea typeface="Calibri" pitchFamily="34" charset="-122"/>
                <a:cs typeface="Calibri" pitchFamily="34" charset="-120"/>
              </a:rPr>
              <a:t>→  Inflation_lag1</a:t>
            </a:r>
            <a:endParaRPr lang="en-US" sz="1100" dirty="0"/>
          </a:p>
        </p:txBody>
      </p:sp>
      <p:sp>
        <p:nvSpPr>
          <p:cNvPr id="26" name="Shape 24"/>
          <p:cNvSpPr/>
          <p:nvPr/>
        </p:nvSpPr>
        <p:spPr>
          <a:xfrm>
            <a:off x="457200" y="4434840"/>
            <a:ext cx="8229600" cy="502920"/>
          </a:xfrm>
          <a:prstGeom prst="rect">
            <a:avLst/>
          </a:prstGeom>
          <a:solidFill>
            <a:srgbClr val="0F1923"/>
          </a:solidFill>
          <a:ln w="12700">
            <a:solidFill>
              <a:srgbClr val="0F1923"/>
            </a:solidFill>
            <a:prstDash val="solid"/>
          </a:ln>
        </p:spPr>
        <p:txBody>
          <a:bodyPr/>
          <a:lstStyle/>
          <a:p>
            <a:endParaRPr lang="es-MX"/>
          </a:p>
        </p:txBody>
      </p:sp>
      <p:sp>
        <p:nvSpPr>
          <p:cNvPr id="27" name="Text 25"/>
          <p:cNvSpPr/>
          <p:nvPr/>
        </p:nvSpPr>
        <p:spPr>
          <a:xfrm>
            <a:off x="457200" y="4434840"/>
            <a:ext cx="8229600" cy="502920"/>
          </a:xfrm>
          <a:prstGeom prst="rect">
            <a:avLst/>
          </a:prstGeom>
          <a:noFill/>
          <a:ln/>
        </p:spPr>
        <p:txBody>
          <a:bodyPr wrap="square" lIns="0" tIns="0" rIns="0" bIns="0" rtlCol="0" anchor="ctr"/>
          <a:lstStyle/>
          <a:p>
            <a:pPr marL="0" indent="0" algn="ctr">
              <a:buNone/>
            </a:pPr>
            <a:r>
              <a:rPr lang="en-US" sz="1200" b="1" dirty="0">
                <a:solidFill>
                  <a:srgbClr val="F5C842"/>
                </a:solidFill>
                <a:latin typeface="Calibri" pitchFamily="34" charset="0"/>
                <a:ea typeface="Calibri" pitchFamily="34" charset="-122"/>
                <a:cs typeface="Calibri" pitchFamily="34" charset="-120"/>
              </a:rPr>
              <a:t>Resultado: 14 predictores  ·  4,107 observaciones efectivas (los primeros 30 días se eliminan por NaN)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0D9488"/>
          </a:solidFill>
          <a:ln w="12700">
            <a:solidFill>
              <a:srgbClr val="0D9488"/>
            </a:solidFill>
            <a:prstDash val="solid"/>
          </a:ln>
        </p:spPr>
        <p:txBody>
          <a:bodyPr/>
          <a:lstStyle/>
          <a:p>
            <a:endParaRPr lang="es-MX"/>
          </a:p>
        </p:txBody>
      </p:sp>
      <p:sp>
        <p:nvSpPr>
          <p:cNvPr id="3" name="Text 1"/>
          <p:cNvSpPr/>
          <p:nvPr/>
        </p:nvSpPr>
        <p:spPr>
          <a:xfrm>
            <a:off x="457200" y="320040"/>
            <a:ext cx="8229600" cy="594360"/>
          </a:xfrm>
          <a:prstGeom prst="rect">
            <a:avLst/>
          </a:prstGeom>
          <a:noFill/>
          <a:ln/>
        </p:spPr>
        <p:txBody>
          <a:bodyPr wrap="square" lIns="0" tIns="0" rIns="0" bIns="0" rtlCol="0" anchor="ctr"/>
          <a:lstStyle/>
          <a:p>
            <a:pPr marL="0" indent="0">
              <a:buNone/>
            </a:pPr>
            <a:r>
              <a:rPr lang="en-US" sz="3000" b="1" dirty="0">
                <a:solidFill>
                  <a:srgbClr val="1E2A38"/>
                </a:solidFill>
                <a:latin typeface="Calibri" pitchFamily="34" charset="0"/>
                <a:ea typeface="Calibri" pitchFamily="34" charset="-122"/>
                <a:cs typeface="Calibri" pitchFamily="34" charset="-120"/>
              </a:rPr>
              <a:t>Metodología</a:t>
            </a:r>
            <a:endParaRPr lang="en-US" sz="3000" dirty="0"/>
          </a:p>
        </p:txBody>
      </p:sp>
      <p:sp>
        <p:nvSpPr>
          <p:cNvPr id="4" name="Shape 2"/>
          <p:cNvSpPr/>
          <p:nvPr/>
        </p:nvSpPr>
        <p:spPr>
          <a:xfrm>
            <a:off x="960120" y="1051560"/>
            <a:ext cx="822960" cy="822960"/>
          </a:xfrm>
          <a:prstGeom prst="ellipse">
            <a:avLst/>
          </a:prstGeom>
          <a:solidFill>
            <a:srgbClr val="0D9488"/>
          </a:solidFill>
          <a:ln w="12700">
            <a:solidFill>
              <a:srgbClr val="0D9488"/>
            </a:solidFill>
            <a:prstDash val="solid"/>
          </a:ln>
        </p:spPr>
        <p:txBody>
          <a:bodyPr/>
          <a:lstStyle/>
          <a:p>
            <a:endParaRPr lang="es-MX"/>
          </a:p>
        </p:txBody>
      </p:sp>
      <p:sp>
        <p:nvSpPr>
          <p:cNvPr id="5" name="Text 3"/>
          <p:cNvSpPr/>
          <p:nvPr/>
        </p:nvSpPr>
        <p:spPr>
          <a:xfrm>
            <a:off x="960120" y="1051560"/>
            <a:ext cx="822960" cy="8229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6" name="Shape 4"/>
          <p:cNvSpPr/>
          <p:nvPr/>
        </p:nvSpPr>
        <p:spPr>
          <a:xfrm>
            <a:off x="365760" y="2057400"/>
            <a:ext cx="1920240" cy="10972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7" name="Text 5"/>
          <p:cNvSpPr/>
          <p:nvPr/>
        </p:nvSpPr>
        <p:spPr>
          <a:xfrm>
            <a:off x="365760" y="2130552"/>
            <a:ext cx="1920240" cy="411480"/>
          </a:xfrm>
          <a:prstGeom prst="rect">
            <a:avLst/>
          </a:prstGeom>
          <a:noFill/>
          <a:ln/>
        </p:spPr>
        <p:txBody>
          <a:bodyPr wrap="square" lIns="0" tIns="0" rIns="0" bIns="0" rtlCol="0" anchor="ctr"/>
          <a:lstStyle/>
          <a:p>
            <a:pPr marL="0" indent="0" algn="ctr">
              <a:buNone/>
            </a:pPr>
            <a:r>
              <a:rPr lang="en-US" sz="1200" b="1" dirty="0">
                <a:solidFill>
                  <a:srgbClr val="1E2A38"/>
                </a:solidFill>
                <a:latin typeface="Calibri" pitchFamily="34" charset="0"/>
                <a:ea typeface="Calibri" pitchFamily="34" charset="-122"/>
                <a:cs typeface="Calibri" pitchFamily="34" charset="-120"/>
              </a:rPr>
              <a:t>StandardScaler</a:t>
            </a:r>
            <a:endParaRPr lang="en-US" sz="1200" dirty="0"/>
          </a:p>
        </p:txBody>
      </p:sp>
      <p:sp>
        <p:nvSpPr>
          <p:cNvPr id="8" name="Text 6"/>
          <p:cNvSpPr/>
          <p:nvPr/>
        </p:nvSpPr>
        <p:spPr>
          <a:xfrm>
            <a:off x="457200" y="2514600"/>
            <a:ext cx="1737360" cy="54864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Normalización dentro del pipeline</a:t>
            </a:r>
            <a:endParaRPr lang="en-US" sz="1000" dirty="0"/>
          </a:p>
        </p:txBody>
      </p:sp>
      <p:sp>
        <p:nvSpPr>
          <p:cNvPr id="9" name="Shape 7"/>
          <p:cNvSpPr/>
          <p:nvPr/>
        </p:nvSpPr>
        <p:spPr>
          <a:xfrm>
            <a:off x="2331720" y="2542032"/>
            <a:ext cx="201168" cy="73152"/>
          </a:xfrm>
          <a:prstGeom prst="rect">
            <a:avLst/>
          </a:prstGeom>
          <a:solidFill>
            <a:srgbClr val="64748B"/>
          </a:solidFill>
          <a:ln w="12700">
            <a:solidFill>
              <a:srgbClr val="64748B"/>
            </a:solidFill>
            <a:prstDash val="solid"/>
          </a:ln>
        </p:spPr>
        <p:txBody>
          <a:bodyPr/>
          <a:lstStyle/>
          <a:p>
            <a:endParaRPr lang="es-MX"/>
          </a:p>
        </p:txBody>
      </p:sp>
      <p:sp>
        <p:nvSpPr>
          <p:cNvPr id="10" name="Shape 8"/>
          <p:cNvSpPr/>
          <p:nvPr/>
        </p:nvSpPr>
        <p:spPr>
          <a:xfrm>
            <a:off x="3063240" y="1051560"/>
            <a:ext cx="822960" cy="822960"/>
          </a:xfrm>
          <a:prstGeom prst="ellipse">
            <a:avLst/>
          </a:prstGeom>
          <a:solidFill>
            <a:srgbClr val="0D9488"/>
          </a:solidFill>
          <a:ln w="12700">
            <a:solidFill>
              <a:srgbClr val="0D9488"/>
            </a:solidFill>
            <a:prstDash val="solid"/>
          </a:ln>
        </p:spPr>
        <p:txBody>
          <a:bodyPr/>
          <a:lstStyle/>
          <a:p>
            <a:endParaRPr lang="es-MX"/>
          </a:p>
        </p:txBody>
      </p:sp>
      <p:sp>
        <p:nvSpPr>
          <p:cNvPr id="11" name="Text 9"/>
          <p:cNvSpPr/>
          <p:nvPr/>
        </p:nvSpPr>
        <p:spPr>
          <a:xfrm>
            <a:off x="3063240" y="1051560"/>
            <a:ext cx="822960" cy="822960"/>
          </a:xfrm>
          <a:prstGeom prst="rect">
            <a:avLst/>
          </a:prstGeom>
          <a:noFill/>
          <a:ln/>
        </p:spPr>
        <p:txBody>
          <a:bodyPr wrap="square" lIns="0" tIns="0" rIns="0" bIns="0" rtlCol="0" anchor="ctr"/>
          <a:lstStyle/>
          <a:p>
            <a:pPr marL="0" indent="0" algn="ctr">
              <a:buNone/>
            </a:pPr>
            <a:r>
              <a:rPr lang="en-US" sz="2200" b="1" dirty="0">
                <a:solidFill>
                  <a:srgbClr val="FFFFFF"/>
                </a:solidFill>
              </a:rPr>
              <a:t>2</a:t>
            </a:r>
            <a:endParaRPr lang="en-US" sz="2200" dirty="0"/>
          </a:p>
        </p:txBody>
      </p:sp>
      <p:sp>
        <p:nvSpPr>
          <p:cNvPr id="12" name="Shape 10"/>
          <p:cNvSpPr/>
          <p:nvPr/>
        </p:nvSpPr>
        <p:spPr>
          <a:xfrm>
            <a:off x="2468880" y="2057400"/>
            <a:ext cx="1920240" cy="10972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13" name="Text 11"/>
          <p:cNvSpPr/>
          <p:nvPr/>
        </p:nvSpPr>
        <p:spPr>
          <a:xfrm>
            <a:off x="2468880" y="2130552"/>
            <a:ext cx="1920240" cy="411480"/>
          </a:xfrm>
          <a:prstGeom prst="rect">
            <a:avLst/>
          </a:prstGeom>
          <a:noFill/>
          <a:ln/>
        </p:spPr>
        <p:txBody>
          <a:bodyPr wrap="square" lIns="0" tIns="0" rIns="0" bIns="0" rtlCol="0" anchor="ctr"/>
          <a:lstStyle/>
          <a:p>
            <a:pPr marL="0" indent="0" algn="ctr">
              <a:buNone/>
            </a:pPr>
            <a:r>
              <a:rPr lang="en-US" sz="1200" b="1" dirty="0">
                <a:solidFill>
                  <a:srgbClr val="1E2A38"/>
                </a:solidFill>
                <a:latin typeface="Calibri" pitchFamily="34" charset="0"/>
                <a:ea typeface="Calibri" pitchFamily="34" charset="-122"/>
                <a:cs typeface="Calibri" pitchFamily="34" charset="-120"/>
              </a:rPr>
              <a:t>RandomizedSearchCV</a:t>
            </a:r>
            <a:endParaRPr lang="en-US" sz="1200" dirty="0"/>
          </a:p>
        </p:txBody>
      </p:sp>
      <p:sp>
        <p:nvSpPr>
          <p:cNvPr id="14" name="Text 12"/>
          <p:cNvSpPr/>
          <p:nvPr/>
        </p:nvSpPr>
        <p:spPr>
          <a:xfrm>
            <a:off x="2560320" y="2514600"/>
            <a:ext cx="1737360" cy="54864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15 iter · TimeSeriesSplit k=3, test=100</a:t>
            </a:r>
            <a:endParaRPr lang="en-US" sz="1000" dirty="0"/>
          </a:p>
        </p:txBody>
      </p:sp>
      <p:sp>
        <p:nvSpPr>
          <p:cNvPr id="15" name="Shape 13"/>
          <p:cNvSpPr/>
          <p:nvPr/>
        </p:nvSpPr>
        <p:spPr>
          <a:xfrm>
            <a:off x="4434840" y="2542032"/>
            <a:ext cx="201168" cy="73152"/>
          </a:xfrm>
          <a:prstGeom prst="rect">
            <a:avLst/>
          </a:prstGeom>
          <a:solidFill>
            <a:srgbClr val="64748B"/>
          </a:solidFill>
          <a:ln w="12700">
            <a:solidFill>
              <a:srgbClr val="64748B"/>
            </a:solidFill>
            <a:prstDash val="solid"/>
          </a:ln>
        </p:spPr>
        <p:txBody>
          <a:bodyPr/>
          <a:lstStyle/>
          <a:p>
            <a:endParaRPr lang="es-MX"/>
          </a:p>
        </p:txBody>
      </p:sp>
      <p:sp>
        <p:nvSpPr>
          <p:cNvPr id="16" name="Shape 14"/>
          <p:cNvSpPr/>
          <p:nvPr/>
        </p:nvSpPr>
        <p:spPr>
          <a:xfrm>
            <a:off x="5166360" y="1051560"/>
            <a:ext cx="822960" cy="822960"/>
          </a:xfrm>
          <a:prstGeom prst="ellipse">
            <a:avLst/>
          </a:prstGeom>
          <a:solidFill>
            <a:srgbClr val="0D9488"/>
          </a:solidFill>
          <a:ln w="12700">
            <a:solidFill>
              <a:srgbClr val="0D9488"/>
            </a:solidFill>
            <a:prstDash val="solid"/>
          </a:ln>
        </p:spPr>
        <p:txBody>
          <a:bodyPr/>
          <a:lstStyle/>
          <a:p>
            <a:endParaRPr lang="es-MX"/>
          </a:p>
        </p:txBody>
      </p:sp>
      <p:sp>
        <p:nvSpPr>
          <p:cNvPr id="17" name="Text 15"/>
          <p:cNvSpPr/>
          <p:nvPr/>
        </p:nvSpPr>
        <p:spPr>
          <a:xfrm>
            <a:off x="5166360" y="1051560"/>
            <a:ext cx="822960" cy="822960"/>
          </a:xfrm>
          <a:prstGeom prst="rect">
            <a:avLst/>
          </a:prstGeom>
          <a:noFill/>
          <a:ln/>
        </p:spPr>
        <p:txBody>
          <a:bodyPr wrap="square" lIns="0" tIns="0" rIns="0" bIns="0" rtlCol="0" anchor="ctr"/>
          <a:lstStyle/>
          <a:p>
            <a:pPr marL="0" indent="0" algn="ctr">
              <a:buNone/>
            </a:pPr>
            <a:r>
              <a:rPr lang="en-US" sz="2200" b="1" dirty="0">
                <a:solidFill>
                  <a:srgbClr val="FFFFFF"/>
                </a:solidFill>
              </a:rPr>
              <a:t>3</a:t>
            </a:r>
            <a:endParaRPr lang="en-US" sz="2200" dirty="0"/>
          </a:p>
        </p:txBody>
      </p:sp>
      <p:sp>
        <p:nvSpPr>
          <p:cNvPr id="18" name="Shape 16"/>
          <p:cNvSpPr/>
          <p:nvPr/>
        </p:nvSpPr>
        <p:spPr>
          <a:xfrm>
            <a:off x="4572000" y="2057400"/>
            <a:ext cx="1920240" cy="10972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19" name="Text 17"/>
          <p:cNvSpPr/>
          <p:nvPr/>
        </p:nvSpPr>
        <p:spPr>
          <a:xfrm>
            <a:off x="4572000" y="2130552"/>
            <a:ext cx="1920240" cy="411480"/>
          </a:xfrm>
          <a:prstGeom prst="rect">
            <a:avLst/>
          </a:prstGeom>
          <a:noFill/>
          <a:ln/>
        </p:spPr>
        <p:txBody>
          <a:bodyPr wrap="square" lIns="0" tIns="0" rIns="0" bIns="0" rtlCol="0" anchor="ctr"/>
          <a:lstStyle/>
          <a:p>
            <a:pPr marL="0" indent="0" algn="ctr">
              <a:buNone/>
            </a:pPr>
            <a:r>
              <a:rPr lang="en-US" sz="1200" b="1" dirty="0">
                <a:solidFill>
                  <a:srgbClr val="1E2A38"/>
                </a:solidFill>
                <a:latin typeface="Calibri" pitchFamily="34" charset="0"/>
                <a:ea typeface="Calibri" pitchFamily="34" charset="-122"/>
                <a:cs typeface="Calibri" pitchFamily="34" charset="-120"/>
              </a:rPr>
              <a:t>Mejor Modelo</a:t>
            </a:r>
            <a:endParaRPr lang="en-US" sz="1200" dirty="0"/>
          </a:p>
        </p:txBody>
      </p:sp>
      <p:sp>
        <p:nvSpPr>
          <p:cNvPr id="20" name="Text 18"/>
          <p:cNvSpPr/>
          <p:nvPr/>
        </p:nvSpPr>
        <p:spPr>
          <a:xfrm>
            <a:off x="4663440" y="2514600"/>
            <a:ext cx="1737360" cy="54864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RF o XGBoost con params óptimos</a:t>
            </a:r>
            <a:endParaRPr lang="en-US" sz="1000" dirty="0"/>
          </a:p>
        </p:txBody>
      </p:sp>
      <p:sp>
        <p:nvSpPr>
          <p:cNvPr id="21" name="Shape 19"/>
          <p:cNvSpPr/>
          <p:nvPr/>
        </p:nvSpPr>
        <p:spPr>
          <a:xfrm>
            <a:off x="6537960" y="2542032"/>
            <a:ext cx="201168" cy="73152"/>
          </a:xfrm>
          <a:prstGeom prst="rect">
            <a:avLst/>
          </a:prstGeom>
          <a:solidFill>
            <a:srgbClr val="64748B"/>
          </a:solidFill>
          <a:ln w="12700">
            <a:solidFill>
              <a:srgbClr val="64748B"/>
            </a:solidFill>
            <a:prstDash val="solid"/>
          </a:ln>
        </p:spPr>
        <p:txBody>
          <a:bodyPr/>
          <a:lstStyle/>
          <a:p>
            <a:endParaRPr lang="es-MX"/>
          </a:p>
        </p:txBody>
      </p:sp>
      <p:sp>
        <p:nvSpPr>
          <p:cNvPr id="22" name="Shape 20"/>
          <p:cNvSpPr/>
          <p:nvPr/>
        </p:nvSpPr>
        <p:spPr>
          <a:xfrm>
            <a:off x="7269480" y="1051560"/>
            <a:ext cx="822960" cy="822960"/>
          </a:xfrm>
          <a:prstGeom prst="ellipse">
            <a:avLst/>
          </a:prstGeom>
          <a:solidFill>
            <a:srgbClr val="0D9488"/>
          </a:solidFill>
          <a:ln w="12700">
            <a:solidFill>
              <a:srgbClr val="0D9488"/>
            </a:solidFill>
            <a:prstDash val="solid"/>
          </a:ln>
        </p:spPr>
        <p:txBody>
          <a:bodyPr/>
          <a:lstStyle/>
          <a:p>
            <a:endParaRPr lang="es-MX"/>
          </a:p>
        </p:txBody>
      </p:sp>
      <p:sp>
        <p:nvSpPr>
          <p:cNvPr id="23" name="Text 21"/>
          <p:cNvSpPr/>
          <p:nvPr/>
        </p:nvSpPr>
        <p:spPr>
          <a:xfrm>
            <a:off x="7269480" y="1051560"/>
            <a:ext cx="822960" cy="8229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24" name="Shape 22"/>
          <p:cNvSpPr/>
          <p:nvPr/>
        </p:nvSpPr>
        <p:spPr>
          <a:xfrm>
            <a:off x="6675120" y="2057400"/>
            <a:ext cx="1920240" cy="10972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25" name="Text 23"/>
          <p:cNvSpPr/>
          <p:nvPr/>
        </p:nvSpPr>
        <p:spPr>
          <a:xfrm>
            <a:off x="6675120" y="2130552"/>
            <a:ext cx="1920240" cy="411480"/>
          </a:xfrm>
          <a:prstGeom prst="rect">
            <a:avLst/>
          </a:prstGeom>
          <a:noFill/>
          <a:ln/>
        </p:spPr>
        <p:txBody>
          <a:bodyPr wrap="square" lIns="0" tIns="0" rIns="0" bIns="0" rtlCol="0" anchor="ctr"/>
          <a:lstStyle/>
          <a:p>
            <a:pPr marL="0" indent="0" algn="ctr">
              <a:buNone/>
            </a:pPr>
            <a:r>
              <a:rPr lang="en-US" sz="1200" b="1" dirty="0">
                <a:solidFill>
                  <a:srgbClr val="1E2A38"/>
                </a:solidFill>
                <a:latin typeface="Calibri" pitchFamily="34" charset="0"/>
                <a:ea typeface="Calibri" pitchFamily="34" charset="-122"/>
                <a:cs typeface="Calibri" pitchFamily="34" charset="-120"/>
              </a:rPr>
              <a:t>Cross Validate</a:t>
            </a:r>
            <a:endParaRPr lang="en-US" sz="1200" dirty="0"/>
          </a:p>
        </p:txBody>
      </p:sp>
      <p:sp>
        <p:nvSpPr>
          <p:cNvPr id="26" name="Text 24"/>
          <p:cNvSpPr/>
          <p:nvPr/>
        </p:nvSpPr>
        <p:spPr>
          <a:xfrm>
            <a:off x="6766560" y="2514600"/>
            <a:ext cx="1737360" cy="54864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Media y Std del R² en 3 folds</a:t>
            </a:r>
            <a:endParaRPr lang="en-US" sz="1000" dirty="0"/>
          </a:p>
        </p:txBody>
      </p:sp>
      <p:sp>
        <p:nvSpPr>
          <p:cNvPr id="27" name="Shape 25"/>
          <p:cNvSpPr/>
          <p:nvPr/>
        </p:nvSpPr>
        <p:spPr>
          <a:xfrm>
            <a:off x="457200" y="3383280"/>
            <a:ext cx="8229600" cy="1600200"/>
          </a:xfrm>
          <a:prstGeom prst="rect">
            <a:avLst/>
          </a:prstGeom>
          <a:solidFill>
            <a:srgbClr val="0F1923"/>
          </a:solidFill>
          <a:ln w="12700">
            <a:solidFill>
              <a:srgbClr val="0F1923"/>
            </a:solidFill>
            <a:prstDash val="solid"/>
          </a:ln>
          <a:effectLst>
            <a:outerShdw blurRad="101600" dist="38100" dir="8100000" algn="bl" rotWithShape="0">
              <a:srgbClr val="000000">
                <a:alpha val="12000"/>
              </a:srgbClr>
            </a:outerShdw>
          </a:effectLst>
        </p:spPr>
        <p:txBody>
          <a:bodyPr/>
          <a:lstStyle/>
          <a:p>
            <a:endParaRPr lang="es-MX"/>
          </a:p>
        </p:txBody>
      </p:sp>
      <p:sp>
        <p:nvSpPr>
          <p:cNvPr id="28" name="Text 26"/>
          <p:cNvSpPr/>
          <p:nvPr/>
        </p:nvSpPr>
        <p:spPr>
          <a:xfrm>
            <a:off x="640080" y="3474720"/>
            <a:ext cx="4572000" cy="365760"/>
          </a:xfrm>
          <a:prstGeom prst="rect">
            <a:avLst/>
          </a:prstGeom>
          <a:noFill/>
          <a:ln/>
        </p:spPr>
        <p:txBody>
          <a:bodyPr wrap="square" lIns="0" tIns="0" rIns="0" bIns="0" rtlCol="0" anchor="ctr"/>
          <a:lstStyle/>
          <a:p>
            <a:pPr marL="0" indent="0">
              <a:buNone/>
            </a:pPr>
            <a:r>
              <a:rPr lang="en-US" sz="1300" b="1" dirty="0">
                <a:solidFill>
                  <a:srgbClr val="F5C842"/>
                </a:solidFill>
                <a:latin typeface="Calibri" pitchFamily="34" charset="0"/>
                <a:ea typeface="Calibri" pitchFamily="34" charset="-122"/>
                <a:cs typeface="Calibri" pitchFamily="34" charset="-120"/>
              </a:rPr>
              <a:t>¿Por qué TimeSeriesSplit?</a:t>
            </a:r>
            <a:endParaRPr lang="en-US" sz="1300" dirty="0"/>
          </a:p>
        </p:txBody>
      </p:sp>
      <p:sp>
        <p:nvSpPr>
          <p:cNvPr id="29" name="Shape 27"/>
          <p:cNvSpPr/>
          <p:nvPr/>
        </p:nvSpPr>
        <p:spPr>
          <a:xfrm>
            <a:off x="4754880" y="3493008"/>
            <a:ext cx="320040" cy="256032"/>
          </a:xfrm>
          <a:prstGeom prst="rect">
            <a:avLst/>
          </a:prstGeom>
          <a:solidFill>
            <a:srgbClr val="DAA520"/>
          </a:solidFill>
          <a:ln w="12700">
            <a:solidFill>
              <a:srgbClr val="000000"/>
            </a:solidFill>
            <a:prstDash val="solid"/>
          </a:ln>
        </p:spPr>
        <p:txBody>
          <a:bodyPr/>
          <a:lstStyle/>
          <a:p>
            <a:endParaRPr lang="es-MX"/>
          </a:p>
        </p:txBody>
      </p:sp>
      <p:sp>
        <p:nvSpPr>
          <p:cNvPr id="30" name="Shape 28"/>
          <p:cNvSpPr/>
          <p:nvPr/>
        </p:nvSpPr>
        <p:spPr>
          <a:xfrm>
            <a:off x="4754880" y="3831336"/>
            <a:ext cx="320040" cy="256032"/>
          </a:xfrm>
          <a:prstGeom prst="rect">
            <a:avLst/>
          </a:prstGeom>
          <a:solidFill>
            <a:srgbClr val="2E86AB"/>
          </a:solidFill>
          <a:ln w="12700">
            <a:solidFill>
              <a:srgbClr val="000000"/>
            </a:solidFill>
            <a:prstDash val="solid"/>
          </a:ln>
        </p:spPr>
        <p:txBody>
          <a:bodyPr/>
          <a:lstStyle/>
          <a:p>
            <a:endParaRPr lang="es-MX"/>
          </a:p>
        </p:txBody>
      </p:sp>
      <p:sp>
        <p:nvSpPr>
          <p:cNvPr id="31" name="Shape 29"/>
          <p:cNvSpPr/>
          <p:nvPr/>
        </p:nvSpPr>
        <p:spPr>
          <a:xfrm>
            <a:off x="5111496" y="3831336"/>
            <a:ext cx="320040" cy="256032"/>
          </a:xfrm>
          <a:prstGeom prst="rect">
            <a:avLst/>
          </a:prstGeom>
          <a:solidFill>
            <a:srgbClr val="DAA520"/>
          </a:solidFill>
          <a:ln w="12700">
            <a:solidFill>
              <a:srgbClr val="000000"/>
            </a:solidFill>
            <a:prstDash val="solid"/>
          </a:ln>
        </p:spPr>
        <p:txBody>
          <a:bodyPr/>
          <a:lstStyle/>
          <a:p>
            <a:endParaRPr lang="es-MX"/>
          </a:p>
        </p:txBody>
      </p:sp>
      <p:sp>
        <p:nvSpPr>
          <p:cNvPr id="32" name="Shape 30"/>
          <p:cNvSpPr/>
          <p:nvPr/>
        </p:nvSpPr>
        <p:spPr>
          <a:xfrm>
            <a:off x="4754880" y="4169664"/>
            <a:ext cx="320040" cy="256032"/>
          </a:xfrm>
          <a:prstGeom prst="rect">
            <a:avLst/>
          </a:prstGeom>
          <a:solidFill>
            <a:srgbClr val="2E86AB"/>
          </a:solidFill>
          <a:ln w="12700">
            <a:solidFill>
              <a:srgbClr val="000000"/>
            </a:solidFill>
            <a:prstDash val="solid"/>
          </a:ln>
        </p:spPr>
        <p:txBody>
          <a:bodyPr/>
          <a:lstStyle/>
          <a:p>
            <a:endParaRPr lang="es-MX"/>
          </a:p>
        </p:txBody>
      </p:sp>
      <p:sp>
        <p:nvSpPr>
          <p:cNvPr id="33" name="Shape 31"/>
          <p:cNvSpPr/>
          <p:nvPr/>
        </p:nvSpPr>
        <p:spPr>
          <a:xfrm>
            <a:off x="5111496" y="4169664"/>
            <a:ext cx="320040" cy="256032"/>
          </a:xfrm>
          <a:prstGeom prst="rect">
            <a:avLst/>
          </a:prstGeom>
          <a:solidFill>
            <a:srgbClr val="2E86AB"/>
          </a:solidFill>
          <a:ln w="12700">
            <a:solidFill>
              <a:srgbClr val="000000"/>
            </a:solidFill>
            <a:prstDash val="solid"/>
          </a:ln>
        </p:spPr>
        <p:txBody>
          <a:bodyPr/>
          <a:lstStyle/>
          <a:p>
            <a:endParaRPr lang="es-MX"/>
          </a:p>
        </p:txBody>
      </p:sp>
      <p:sp>
        <p:nvSpPr>
          <p:cNvPr id="34" name="Shape 32"/>
          <p:cNvSpPr/>
          <p:nvPr/>
        </p:nvSpPr>
        <p:spPr>
          <a:xfrm>
            <a:off x="5468112" y="4169664"/>
            <a:ext cx="320040" cy="256032"/>
          </a:xfrm>
          <a:prstGeom prst="rect">
            <a:avLst/>
          </a:prstGeom>
          <a:solidFill>
            <a:srgbClr val="DAA520"/>
          </a:solidFill>
          <a:ln w="12700">
            <a:solidFill>
              <a:srgbClr val="000000"/>
            </a:solidFill>
            <a:prstDash val="solid"/>
          </a:ln>
        </p:spPr>
        <p:txBody>
          <a:bodyPr/>
          <a:lstStyle/>
          <a:p>
            <a:endParaRPr lang="es-MX"/>
          </a:p>
        </p:txBody>
      </p:sp>
      <p:sp>
        <p:nvSpPr>
          <p:cNvPr id="35" name="Text 33"/>
          <p:cNvSpPr/>
          <p:nvPr/>
        </p:nvSpPr>
        <p:spPr>
          <a:xfrm>
            <a:off x="640080" y="3822192"/>
            <a:ext cx="3931920" cy="10058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En cada fold, la validación siempre es cronológicamente posterior al entrenamiento.</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Esto respeta la causalidad y evita usar el futuro para predecir el pasado.</a:t>
            </a:r>
            <a:endParaRPr lang="en-US" sz="1100" dirty="0"/>
          </a:p>
        </p:txBody>
      </p:sp>
      <p:sp>
        <p:nvSpPr>
          <p:cNvPr id="36" name="Text 34"/>
          <p:cNvSpPr/>
          <p:nvPr/>
        </p:nvSpPr>
        <p:spPr>
          <a:xfrm>
            <a:off x="4754880" y="4736592"/>
            <a:ext cx="3474720" cy="22860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 Entrenamiento    ■ Validación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DAA520"/>
          </a:solidFill>
          <a:ln w="12700">
            <a:solidFill>
              <a:srgbClr val="DAA520"/>
            </a:solidFill>
            <a:prstDash val="solid"/>
          </a:ln>
        </p:spPr>
        <p:txBody>
          <a:bodyPr/>
          <a:lstStyle/>
          <a:p>
            <a:endParaRPr lang="es-MX"/>
          </a:p>
        </p:txBody>
      </p:sp>
      <p:sp>
        <p:nvSpPr>
          <p:cNvPr id="3" name="Text 1"/>
          <p:cNvSpPr/>
          <p:nvPr/>
        </p:nvSpPr>
        <p:spPr>
          <a:xfrm>
            <a:off x="457200" y="320040"/>
            <a:ext cx="8229600" cy="594360"/>
          </a:xfrm>
          <a:prstGeom prst="rect">
            <a:avLst/>
          </a:prstGeom>
          <a:noFill/>
          <a:ln/>
        </p:spPr>
        <p:txBody>
          <a:bodyPr wrap="square" lIns="0" tIns="0" rIns="0" bIns="0" rtlCol="0" anchor="ctr"/>
          <a:lstStyle/>
          <a:p>
            <a:pPr marL="0" indent="0">
              <a:buNone/>
            </a:pPr>
            <a:r>
              <a:rPr lang="en-US" sz="3000" b="1" dirty="0">
                <a:solidFill>
                  <a:srgbClr val="1E2A38"/>
                </a:solidFill>
                <a:latin typeface="Calibri" pitchFamily="34" charset="0"/>
                <a:ea typeface="Calibri" pitchFamily="34" charset="-122"/>
                <a:cs typeface="Calibri" pitchFamily="34" charset="-120"/>
              </a:rPr>
              <a:t>Modelos Propuestos</a:t>
            </a:r>
            <a:endParaRPr lang="en-US" sz="3000" dirty="0"/>
          </a:p>
        </p:txBody>
      </p:sp>
      <p:sp>
        <p:nvSpPr>
          <p:cNvPr id="4" name="Shape 2"/>
          <p:cNvSpPr/>
          <p:nvPr/>
        </p:nvSpPr>
        <p:spPr>
          <a:xfrm>
            <a:off x="365760" y="1051560"/>
            <a:ext cx="4023360" cy="38862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5" name="Shape 3"/>
          <p:cNvSpPr/>
          <p:nvPr/>
        </p:nvSpPr>
        <p:spPr>
          <a:xfrm>
            <a:off x="365760" y="1051560"/>
            <a:ext cx="4023360" cy="502920"/>
          </a:xfrm>
          <a:prstGeom prst="rect">
            <a:avLst/>
          </a:prstGeom>
          <a:solidFill>
            <a:srgbClr val="2E86AB"/>
          </a:solidFill>
          <a:ln w="12700">
            <a:solidFill>
              <a:srgbClr val="2E86AB"/>
            </a:solidFill>
            <a:prstDash val="solid"/>
          </a:ln>
        </p:spPr>
        <p:txBody>
          <a:bodyPr/>
          <a:lstStyle/>
          <a:p>
            <a:endParaRPr lang="es-MX"/>
          </a:p>
        </p:txBody>
      </p:sp>
      <p:sp>
        <p:nvSpPr>
          <p:cNvPr id="6" name="Text 4"/>
          <p:cNvSpPr/>
          <p:nvPr/>
        </p:nvSpPr>
        <p:spPr>
          <a:xfrm>
            <a:off x="365760" y="1051560"/>
            <a:ext cx="402336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  Random Forest</a:t>
            </a:r>
            <a:endParaRPr lang="en-US" sz="1500" dirty="0"/>
          </a:p>
        </p:txBody>
      </p:sp>
      <p:sp>
        <p:nvSpPr>
          <p:cNvPr id="7" name="Text 5"/>
          <p:cNvSpPr/>
          <p:nvPr/>
        </p:nvSpPr>
        <p:spPr>
          <a:xfrm>
            <a:off x="502920" y="1664208"/>
            <a:ext cx="3749040" cy="320040"/>
          </a:xfrm>
          <a:prstGeom prst="rect">
            <a:avLst/>
          </a:prstGeom>
          <a:noFill/>
          <a:ln/>
        </p:spPr>
        <p:txBody>
          <a:bodyPr wrap="square" lIns="0" tIns="0" rIns="0" bIns="0" rtlCol="0" anchor="ctr"/>
          <a:lstStyle/>
          <a:p>
            <a:pPr marL="0" indent="0">
              <a:buNone/>
            </a:pPr>
            <a:r>
              <a:rPr lang="en-US" sz="1050" b="1" dirty="0">
                <a:solidFill>
                  <a:srgbClr val="64748B"/>
                </a:solidFill>
                <a:latin typeface="Calibri" pitchFamily="34" charset="0"/>
                <a:ea typeface="Calibri" pitchFamily="34" charset="-122"/>
                <a:cs typeface="Calibri" pitchFamily="34" charset="-120"/>
              </a:rPr>
              <a:t>Espacio de búsqueda (RandomizedSearchCV · 15 iter)  ·  Mejor: n=100, max_features=0.5, max_depth=None</a:t>
            </a:r>
            <a:endParaRPr lang="en-US" sz="1050" dirty="0"/>
          </a:p>
        </p:txBody>
      </p:sp>
      <p:sp>
        <p:nvSpPr>
          <p:cNvPr id="8" name="Shape 6"/>
          <p:cNvSpPr/>
          <p:nvPr/>
        </p:nvSpPr>
        <p:spPr>
          <a:xfrm>
            <a:off x="502920" y="1993392"/>
            <a:ext cx="3749040" cy="402336"/>
          </a:xfrm>
          <a:prstGeom prst="rect">
            <a:avLst/>
          </a:prstGeom>
          <a:solidFill>
            <a:srgbClr val="F8F9FA"/>
          </a:solidFill>
          <a:ln w="12700">
            <a:solidFill>
              <a:srgbClr val="E2E8F0"/>
            </a:solidFill>
            <a:prstDash val="solid"/>
          </a:ln>
        </p:spPr>
        <p:txBody>
          <a:bodyPr/>
          <a:lstStyle/>
          <a:p>
            <a:endParaRPr lang="es-MX"/>
          </a:p>
        </p:txBody>
      </p:sp>
      <p:sp>
        <p:nvSpPr>
          <p:cNvPr id="9" name="Text 7"/>
          <p:cNvSpPr/>
          <p:nvPr/>
        </p:nvSpPr>
        <p:spPr>
          <a:xfrm>
            <a:off x="594360" y="2048256"/>
            <a:ext cx="1645920" cy="292608"/>
          </a:xfrm>
          <a:prstGeom prst="rect">
            <a:avLst/>
          </a:prstGeom>
          <a:noFill/>
          <a:ln/>
        </p:spPr>
        <p:txBody>
          <a:bodyPr wrap="square" lIns="0" tIns="0" rIns="0" bIns="0" rtlCol="0" anchor="ctr"/>
          <a:lstStyle/>
          <a:p>
            <a:pPr marL="0" indent="0">
              <a:buNone/>
            </a:pPr>
            <a:r>
              <a:rPr lang="en-US" sz="1100" b="1" dirty="0">
                <a:solidFill>
                  <a:srgbClr val="1E2A38"/>
                </a:solidFill>
                <a:latin typeface="Calibri" pitchFamily="34" charset="0"/>
                <a:ea typeface="Calibri" pitchFamily="34" charset="-122"/>
                <a:cs typeface="Calibri" pitchFamily="34" charset="-120"/>
              </a:rPr>
              <a:t>n_estimators</a:t>
            </a:r>
            <a:endParaRPr lang="en-US" sz="1100" dirty="0"/>
          </a:p>
        </p:txBody>
      </p:sp>
      <p:sp>
        <p:nvSpPr>
          <p:cNvPr id="10" name="Text 8"/>
          <p:cNvSpPr/>
          <p:nvPr/>
        </p:nvSpPr>
        <p:spPr>
          <a:xfrm>
            <a:off x="2240280" y="2048256"/>
            <a:ext cx="1920240" cy="292608"/>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100 / 200 / 300</a:t>
            </a:r>
            <a:endParaRPr lang="en-US" sz="1100" dirty="0"/>
          </a:p>
        </p:txBody>
      </p:sp>
      <p:sp>
        <p:nvSpPr>
          <p:cNvPr id="11" name="Shape 9"/>
          <p:cNvSpPr/>
          <p:nvPr/>
        </p:nvSpPr>
        <p:spPr>
          <a:xfrm>
            <a:off x="502920" y="2468880"/>
            <a:ext cx="3749040" cy="402336"/>
          </a:xfrm>
          <a:prstGeom prst="rect">
            <a:avLst/>
          </a:prstGeom>
          <a:solidFill>
            <a:srgbClr val="FFFFFF"/>
          </a:solidFill>
          <a:ln w="12700">
            <a:solidFill>
              <a:srgbClr val="E2E8F0"/>
            </a:solidFill>
            <a:prstDash val="solid"/>
          </a:ln>
        </p:spPr>
        <p:txBody>
          <a:bodyPr/>
          <a:lstStyle/>
          <a:p>
            <a:endParaRPr lang="es-MX"/>
          </a:p>
        </p:txBody>
      </p:sp>
      <p:sp>
        <p:nvSpPr>
          <p:cNvPr id="12" name="Text 10"/>
          <p:cNvSpPr/>
          <p:nvPr/>
        </p:nvSpPr>
        <p:spPr>
          <a:xfrm>
            <a:off x="594360" y="2523744"/>
            <a:ext cx="1645920" cy="292608"/>
          </a:xfrm>
          <a:prstGeom prst="rect">
            <a:avLst/>
          </a:prstGeom>
          <a:noFill/>
          <a:ln/>
        </p:spPr>
        <p:txBody>
          <a:bodyPr wrap="square" lIns="0" tIns="0" rIns="0" bIns="0" rtlCol="0" anchor="ctr"/>
          <a:lstStyle/>
          <a:p>
            <a:pPr marL="0" indent="0">
              <a:buNone/>
            </a:pPr>
            <a:r>
              <a:rPr lang="en-US" sz="1100" b="1" dirty="0">
                <a:solidFill>
                  <a:srgbClr val="1E2A38"/>
                </a:solidFill>
                <a:latin typeface="Calibri" pitchFamily="34" charset="0"/>
                <a:ea typeface="Calibri" pitchFamily="34" charset="-122"/>
                <a:cs typeface="Calibri" pitchFamily="34" charset="-120"/>
              </a:rPr>
              <a:t>max_depth</a:t>
            </a:r>
            <a:endParaRPr lang="en-US" sz="1100" dirty="0"/>
          </a:p>
        </p:txBody>
      </p:sp>
      <p:sp>
        <p:nvSpPr>
          <p:cNvPr id="13" name="Text 11"/>
          <p:cNvSpPr/>
          <p:nvPr/>
        </p:nvSpPr>
        <p:spPr>
          <a:xfrm>
            <a:off x="2240280" y="2523744"/>
            <a:ext cx="1920240" cy="292608"/>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None / 10 / 20</a:t>
            </a:r>
            <a:endParaRPr lang="en-US" sz="1100" dirty="0"/>
          </a:p>
        </p:txBody>
      </p:sp>
      <p:sp>
        <p:nvSpPr>
          <p:cNvPr id="14" name="Shape 12"/>
          <p:cNvSpPr/>
          <p:nvPr/>
        </p:nvSpPr>
        <p:spPr>
          <a:xfrm>
            <a:off x="502920" y="2944368"/>
            <a:ext cx="3749040" cy="402336"/>
          </a:xfrm>
          <a:prstGeom prst="rect">
            <a:avLst/>
          </a:prstGeom>
          <a:solidFill>
            <a:srgbClr val="F8F9FA"/>
          </a:solidFill>
          <a:ln w="12700">
            <a:solidFill>
              <a:srgbClr val="E2E8F0"/>
            </a:solidFill>
            <a:prstDash val="solid"/>
          </a:ln>
        </p:spPr>
        <p:txBody>
          <a:bodyPr/>
          <a:lstStyle/>
          <a:p>
            <a:endParaRPr lang="es-MX"/>
          </a:p>
        </p:txBody>
      </p:sp>
      <p:sp>
        <p:nvSpPr>
          <p:cNvPr id="15" name="Text 13"/>
          <p:cNvSpPr/>
          <p:nvPr/>
        </p:nvSpPr>
        <p:spPr>
          <a:xfrm>
            <a:off x="594360" y="2999232"/>
            <a:ext cx="1645920" cy="292608"/>
          </a:xfrm>
          <a:prstGeom prst="rect">
            <a:avLst/>
          </a:prstGeom>
          <a:noFill/>
          <a:ln/>
        </p:spPr>
        <p:txBody>
          <a:bodyPr wrap="square" lIns="0" tIns="0" rIns="0" bIns="0" rtlCol="0" anchor="ctr"/>
          <a:lstStyle/>
          <a:p>
            <a:pPr marL="0" indent="0">
              <a:buNone/>
            </a:pPr>
            <a:r>
              <a:rPr lang="en-US" sz="1100" b="1" dirty="0">
                <a:solidFill>
                  <a:srgbClr val="1E2A38"/>
                </a:solidFill>
                <a:latin typeface="Calibri" pitchFamily="34" charset="0"/>
                <a:ea typeface="Calibri" pitchFamily="34" charset="-122"/>
                <a:cs typeface="Calibri" pitchFamily="34" charset="-120"/>
              </a:rPr>
              <a:t>max_features</a:t>
            </a:r>
            <a:endParaRPr lang="en-US" sz="1100" dirty="0"/>
          </a:p>
        </p:txBody>
      </p:sp>
      <p:sp>
        <p:nvSpPr>
          <p:cNvPr id="16" name="Text 14"/>
          <p:cNvSpPr/>
          <p:nvPr/>
        </p:nvSpPr>
        <p:spPr>
          <a:xfrm>
            <a:off x="2240280" y="2999232"/>
            <a:ext cx="1920240" cy="292608"/>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sqrt / 0.5</a:t>
            </a:r>
            <a:endParaRPr lang="en-US" sz="1100" dirty="0"/>
          </a:p>
        </p:txBody>
      </p:sp>
      <p:sp>
        <p:nvSpPr>
          <p:cNvPr id="17" name="Shape 15"/>
          <p:cNvSpPr/>
          <p:nvPr/>
        </p:nvSpPr>
        <p:spPr>
          <a:xfrm>
            <a:off x="502920" y="3419856"/>
            <a:ext cx="3749040" cy="402336"/>
          </a:xfrm>
          <a:prstGeom prst="rect">
            <a:avLst/>
          </a:prstGeom>
          <a:solidFill>
            <a:srgbClr val="FFFFFF"/>
          </a:solidFill>
          <a:ln w="12700">
            <a:solidFill>
              <a:srgbClr val="E2E8F0"/>
            </a:solidFill>
            <a:prstDash val="solid"/>
          </a:ln>
        </p:spPr>
        <p:txBody>
          <a:bodyPr/>
          <a:lstStyle/>
          <a:p>
            <a:endParaRPr lang="es-MX"/>
          </a:p>
        </p:txBody>
      </p:sp>
      <p:sp>
        <p:nvSpPr>
          <p:cNvPr id="18" name="Text 16"/>
          <p:cNvSpPr/>
          <p:nvPr/>
        </p:nvSpPr>
        <p:spPr>
          <a:xfrm>
            <a:off x="594360" y="3474720"/>
            <a:ext cx="1645920" cy="292608"/>
          </a:xfrm>
          <a:prstGeom prst="rect">
            <a:avLst/>
          </a:prstGeom>
          <a:noFill/>
          <a:ln/>
        </p:spPr>
        <p:txBody>
          <a:bodyPr wrap="square" lIns="0" tIns="0" rIns="0" bIns="0" rtlCol="0" anchor="ctr"/>
          <a:lstStyle/>
          <a:p>
            <a:pPr marL="0" indent="0">
              <a:buNone/>
            </a:pPr>
            <a:r>
              <a:rPr lang="en-US" sz="1100" b="1" dirty="0">
                <a:solidFill>
                  <a:srgbClr val="1E2A38"/>
                </a:solidFill>
                <a:latin typeface="Calibri" pitchFamily="34" charset="0"/>
                <a:ea typeface="Calibri" pitchFamily="34" charset="-122"/>
                <a:cs typeface="Calibri" pitchFamily="34" charset="-120"/>
              </a:rPr>
              <a:t>min_samples_split</a:t>
            </a:r>
            <a:endParaRPr lang="en-US" sz="1100" dirty="0"/>
          </a:p>
        </p:txBody>
      </p:sp>
      <p:sp>
        <p:nvSpPr>
          <p:cNvPr id="19" name="Text 17"/>
          <p:cNvSpPr/>
          <p:nvPr/>
        </p:nvSpPr>
        <p:spPr>
          <a:xfrm>
            <a:off x="2240280" y="3474720"/>
            <a:ext cx="1920240" cy="292608"/>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2 / 5</a:t>
            </a:r>
            <a:endParaRPr lang="en-US" sz="1100" dirty="0"/>
          </a:p>
        </p:txBody>
      </p:sp>
      <p:sp>
        <p:nvSpPr>
          <p:cNvPr id="20" name="Text 18"/>
          <p:cNvSpPr/>
          <p:nvPr/>
        </p:nvSpPr>
        <p:spPr>
          <a:xfrm>
            <a:off x="502920" y="3977640"/>
            <a:ext cx="3749040" cy="82296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Idea clave: promedia 100–300 árboles independientes entrenados en muestras bootstrap, reduciendo varianza.</a:t>
            </a:r>
            <a:endParaRPr lang="en-US" sz="1050" dirty="0"/>
          </a:p>
        </p:txBody>
      </p:sp>
      <p:sp>
        <p:nvSpPr>
          <p:cNvPr id="21" name="Shape 19"/>
          <p:cNvSpPr/>
          <p:nvPr/>
        </p:nvSpPr>
        <p:spPr>
          <a:xfrm>
            <a:off x="4754880" y="1051560"/>
            <a:ext cx="4023360" cy="38862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22" name="Shape 20"/>
          <p:cNvSpPr/>
          <p:nvPr/>
        </p:nvSpPr>
        <p:spPr>
          <a:xfrm>
            <a:off x="4754880" y="1051560"/>
            <a:ext cx="4023360" cy="502920"/>
          </a:xfrm>
          <a:prstGeom prst="rect">
            <a:avLst/>
          </a:prstGeom>
          <a:solidFill>
            <a:srgbClr val="DAA520"/>
          </a:solidFill>
          <a:ln w="12700">
            <a:solidFill>
              <a:srgbClr val="DAA520"/>
            </a:solidFill>
            <a:prstDash val="solid"/>
          </a:ln>
        </p:spPr>
        <p:txBody>
          <a:bodyPr/>
          <a:lstStyle/>
          <a:p>
            <a:endParaRPr lang="es-MX"/>
          </a:p>
        </p:txBody>
      </p:sp>
      <p:sp>
        <p:nvSpPr>
          <p:cNvPr id="23" name="Text 21"/>
          <p:cNvSpPr/>
          <p:nvPr/>
        </p:nvSpPr>
        <p:spPr>
          <a:xfrm>
            <a:off x="4754880" y="1051560"/>
            <a:ext cx="4023360" cy="502920"/>
          </a:xfrm>
          <a:prstGeom prst="rect">
            <a:avLst/>
          </a:prstGeom>
          <a:noFill/>
          <a:ln/>
        </p:spPr>
        <p:txBody>
          <a:bodyPr wrap="square" lIns="0" tIns="0" rIns="0" bIns="0" rtlCol="0" anchor="ctr"/>
          <a:lstStyle/>
          <a:p>
            <a:pPr marL="0" indent="0" algn="ctr">
              <a:buNone/>
            </a:pPr>
            <a:r>
              <a:rPr lang="en-US" sz="1500" b="1" dirty="0">
                <a:solidFill>
                  <a:srgbClr val="0F1923"/>
                </a:solidFill>
                <a:latin typeface="Calibri" pitchFamily="34" charset="0"/>
                <a:ea typeface="Calibri" pitchFamily="34" charset="-122"/>
                <a:cs typeface="Calibri" pitchFamily="34" charset="-120"/>
              </a:rPr>
              <a:t>⚡  XGBoost</a:t>
            </a:r>
            <a:endParaRPr lang="en-US" sz="1500" dirty="0"/>
          </a:p>
        </p:txBody>
      </p:sp>
      <p:sp>
        <p:nvSpPr>
          <p:cNvPr id="24" name="Text 22"/>
          <p:cNvSpPr/>
          <p:nvPr/>
        </p:nvSpPr>
        <p:spPr>
          <a:xfrm>
            <a:off x="4892040" y="1664208"/>
            <a:ext cx="3749040" cy="320040"/>
          </a:xfrm>
          <a:prstGeom prst="rect">
            <a:avLst/>
          </a:prstGeom>
          <a:noFill/>
          <a:ln/>
        </p:spPr>
        <p:txBody>
          <a:bodyPr wrap="square" lIns="0" tIns="0" rIns="0" bIns="0" rtlCol="0" anchor="ctr"/>
          <a:lstStyle/>
          <a:p>
            <a:pPr marL="0" indent="0">
              <a:buNone/>
            </a:pPr>
            <a:r>
              <a:rPr lang="en-US" sz="1050" b="1" dirty="0">
                <a:solidFill>
                  <a:srgbClr val="64748B"/>
                </a:solidFill>
                <a:latin typeface="Calibri" pitchFamily="34" charset="0"/>
                <a:ea typeface="Calibri" pitchFamily="34" charset="-122"/>
                <a:cs typeface="Calibri" pitchFamily="34" charset="-120"/>
              </a:rPr>
              <a:t>Espacio de búsqueda (RandomizedSearchCV · 15 iter)  ·  Mejor: n=100, max_depth=3, lr=0.1</a:t>
            </a:r>
            <a:endParaRPr lang="en-US" sz="1050" dirty="0"/>
          </a:p>
        </p:txBody>
      </p:sp>
      <p:sp>
        <p:nvSpPr>
          <p:cNvPr id="25" name="Shape 23"/>
          <p:cNvSpPr/>
          <p:nvPr/>
        </p:nvSpPr>
        <p:spPr>
          <a:xfrm>
            <a:off x="4892040" y="1993392"/>
            <a:ext cx="3749040" cy="329184"/>
          </a:xfrm>
          <a:prstGeom prst="rect">
            <a:avLst/>
          </a:prstGeom>
          <a:solidFill>
            <a:srgbClr val="F8F9FA"/>
          </a:solidFill>
          <a:ln w="12700">
            <a:solidFill>
              <a:srgbClr val="E2E8F0"/>
            </a:solidFill>
            <a:prstDash val="solid"/>
          </a:ln>
        </p:spPr>
        <p:txBody>
          <a:bodyPr/>
          <a:lstStyle/>
          <a:p>
            <a:endParaRPr lang="es-MX"/>
          </a:p>
        </p:txBody>
      </p:sp>
      <p:sp>
        <p:nvSpPr>
          <p:cNvPr id="26" name="Text 24"/>
          <p:cNvSpPr/>
          <p:nvPr/>
        </p:nvSpPr>
        <p:spPr>
          <a:xfrm>
            <a:off x="4983480" y="2029968"/>
            <a:ext cx="1645920" cy="256032"/>
          </a:xfrm>
          <a:prstGeom prst="rect">
            <a:avLst/>
          </a:prstGeom>
          <a:noFill/>
          <a:ln/>
        </p:spPr>
        <p:txBody>
          <a:bodyPr wrap="square" lIns="0" tIns="0" rIns="0" bIns="0" rtlCol="0" anchor="ctr"/>
          <a:lstStyle/>
          <a:p>
            <a:pPr marL="0" indent="0">
              <a:buNone/>
            </a:pPr>
            <a:r>
              <a:rPr lang="en-US" sz="1100" b="1" dirty="0">
                <a:solidFill>
                  <a:srgbClr val="1E2A38"/>
                </a:solidFill>
                <a:latin typeface="Calibri" pitchFamily="34" charset="0"/>
                <a:ea typeface="Calibri" pitchFamily="34" charset="-122"/>
                <a:cs typeface="Calibri" pitchFamily="34" charset="-120"/>
              </a:rPr>
              <a:t>n_estimators</a:t>
            </a:r>
            <a:endParaRPr lang="en-US" sz="1100" dirty="0"/>
          </a:p>
        </p:txBody>
      </p:sp>
      <p:sp>
        <p:nvSpPr>
          <p:cNvPr id="27" name="Text 25"/>
          <p:cNvSpPr/>
          <p:nvPr/>
        </p:nvSpPr>
        <p:spPr>
          <a:xfrm>
            <a:off x="6629400" y="2029968"/>
            <a:ext cx="1920240" cy="256032"/>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100 / 200 / 300</a:t>
            </a:r>
            <a:endParaRPr lang="en-US" sz="1100" dirty="0"/>
          </a:p>
        </p:txBody>
      </p:sp>
      <p:sp>
        <p:nvSpPr>
          <p:cNvPr id="28" name="Shape 26"/>
          <p:cNvSpPr/>
          <p:nvPr/>
        </p:nvSpPr>
        <p:spPr>
          <a:xfrm>
            <a:off x="4892040" y="2377440"/>
            <a:ext cx="3749040" cy="329184"/>
          </a:xfrm>
          <a:prstGeom prst="rect">
            <a:avLst/>
          </a:prstGeom>
          <a:solidFill>
            <a:srgbClr val="FFFFFF"/>
          </a:solidFill>
          <a:ln w="12700">
            <a:solidFill>
              <a:srgbClr val="E2E8F0"/>
            </a:solidFill>
            <a:prstDash val="solid"/>
          </a:ln>
        </p:spPr>
        <p:txBody>
          <a:bodyPr/>
          <a:lstStyle/>
          <a:p>
            <a:endParaRPr lang="es-MX"/>
          </a:p>
        </p:txBody>
      </p:sp>
      <p:sp>
        <p:nvSpPr>
          <p:cNvPr id="29" name="Text 27"/>
          <p:cNvSpPr/>
          <p:nvPr/>
        </p:nvSpPr>
        <p:spPr>
          <a:xfrm>
            <a:off x="4983480" y="2414016"/>
            <a:ext cx="1645920" cy="256032"/>
          </a:xfrm>
          <a:prstGeom prst="rect">
            <a:avLst/>
          </a:prstGeom>
          <a:noFill/>
          <a:ln/>
        </p:spPr>
        <p:txBody>
          <a:bodyPr wrap="square" lIns="0" tIns="0" rIns="0" bIns="0" rtlCol="0" anchor="ctr"/>
          <a:lstStyle/>
          <a:p>
            <a:pPr marL="0" indent="0">
              <a:buNone/>
            </a:pPr>
            <a:r>
              <a:rPr lang="en-US" sz="1100" b="1" dirty="0">
                <a:solidFill>
                  <a:srgbClr val="1E2A38"/>
                </a:solidFill>
                <a:latin typeface="Calibri" pitchFamily="34" charset="0"/>
                <a:ea typeface="Calibri" pitchFamily="34" charset="-122"/>
                <a:cs typeface="Calibri" pitchFamily="34" charset="-120"/>
              </a:rPr>
              <a:t>max_depth</a:t>
            </a:r>
            <a:endParaRPr lang="en-US" sz="1100" dirty="0"/>
          </a:p>
        </p:txBody>
      </p:sp>
      <p:sp>
        <p:nvSpPr>
          <p:cNvPr id="30" name="Text 28"/>
          <p:cNvSpPr/>
          <p:nvPr/>
        </p:nvSpPr>
        <p:spPr>
          <a:xfrm>
            <a:off x="6629400" y="2414016"/>
            <a:ext cx="1920240" cy="256032"/>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3 / 5 / 7</a:t>
            </a:r>
            <a:endParaRPr lang="en-US" sz="1100" dirty="0"/>
          </a:p>
        </p:txBody>
      </p:sp>
      <p:sp>
        <p:nvSpPr>
          <p:cNvPr id="31" name="Shape 29"/>
          <p:cNvSpPr/>
          <p:nvPr/>
        </p:nvSpPr>
        <p:spPr>
          <a:xfrm>
            <a:off x="4892040" y="2761488"/>
            <a:ext cx="3749040" cy="329184"/>
          </a:xfrm>
          <a:prstGeom prst="rect">
            <a:avLst/>
          </a:prstGeom>
          <a:solidFill>
            <a:srgbClr val="F8F9FA"/>
          </a:solidFill>
          <a:ln w="12700">
            <a:solidFill>
              <a:srgbClr val="E2E8F0"/>
            </a:solidFill>
            <a:prstDash val="solid"/>
          </a:ln>
        </p:spPr>
        <p:txBody>
          <a:bodyPr/>
          <a:lstStyle/>
          <a:p>
            <a:endParaRPr lang="es-MX"/>
          </a:p>
        </p:txBody>
      </p:sp>
      <p:sp>
        <p:nvSpPr>
          <p:cNvPr id="32" name="Text 30"/>
          <p:cNvSpPr/>
          <p:nvPr/>
        </p:nvSpPr>
        <p:spPr>
          <a:xfrm>
            <a:off x="4983480" y="2798064"/>
            <a:ext cx="1645920" cy="256032"/>
          </a:xfrm>
          <a:prstGeom prst="rect">
            <a:avLst/>
          </a:prstGeom>
          <a:noFill/>
          <a:ln/>
        </p:spPr>
        <p:txBody>
          <a:bodyPr wrap="square" lIns="0" tIns="0" rIns="0" bIns="0" rtlCol="0" anchor="ctr"/>
          <a:lstStyle/>
          <a:p>
            <a:pPr marL="0" indent="0">
              <a:buNone/>
            </a:pPr>
            <a:r>
              <a:rPr lang="en-US" sz="1100" b="1" dirty="0">
                <a:solidFill>
                  <a:srgbClr val="1E2A38"/>
                </a:solidFill>
                <a:latin typeface="Calibri" pitchFamily="34" charset="0"/>
                <a:ea typeface="Calibri" pitchFamily="34" charset="-122"/>
                <a:cs typeface="Calibri" pitchFamily="34" charset="-120"/>
              </a:rPr>
              <a:t>learning_rate</a:t>
            </a:r>
            <a:endParaRPr lang="en-US" sz="1100" dirty="0"/>
          </a:p>
        </p:txBody>
      </p:sp>
      <p:sp>
        <p:nvSpPr>
          <p:cNvPr id="33" name="Text 31"/>
          <p:cNvSpPr/>
          <p:nvPr/>
        </p:nvSpPr>
        <p:spPr>
          <a:xfrm>
            <a:off x="6629400" y="2798064"/>
            <a:ext cx="1920240" cy="256032"/>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0.01 / 0.05 / 0.1</a:t>
            </a:r>
            <a:endParaRPr lang="en-US" sz="1100" dirty="0"/>
          </a:p>
        </p:txBody>
      </p:sp>
      <p:sp>
        <p:nvSpPr>
          <p:cNvPr id="34" name="Shape 32"/>
          <p:cNvSpPr/>
          <p:nvPr/>
        </p:nvSpPr>
        <p:spPr>
          <a:xfrm>
            <a:off x="4892040" y="3145536"/>
            <a:ext cx="3749040" cy="329184"/>
          </a:xfrm>
          <a:prstGeom prst="rect">
            <a:avLst/>
          </a:prstGeom>
          <a:solidFill>
            <a:srgbClr val="FFFFFF"/>
          </a:solidFill>
          <a:ln w="12700">
            <a:solidFill>
              <a:srgbClr val="E2E8F0"/>
            </a:solidFill>
            <a:prstDash val="solid"/>
          </a:ln>
        </p:spPr>
        <p:txBody>
          <a:bodyPr/>
          <a:lstStyle/>
          <a:p>
            <a:endParaRPr lang="es-MX"/>
          </a:p>
        </p:txBody>
      </p:sp>
      <p:sp>
        <p:nvSpPr>
          <p:cNvPr id="35" name="Text 33"/>
          <p:cNvSpPr/>
          <p:nvPr/>
        </p:nvSpPr>
        <p:spPr>
          <a:xfrm>
            <a:off x="4983480" y="3182112"/>
            <a:ext cx="1645920" cy="256032"/>
          </a:xfrm>
          <a:prstGeom prst="rect">
            <a:avLst/>
          </a:prstGeom>
          <a:noFill/>
          <a:ln/>
        </p:spPr>
        <p:txBody>
          <a:bodyPr wrap="square" lIns="0" tIns="0" rIns="0" bIns="0" rtlCol="0" anchor="ctr"/>
          <a:lstStyle/>
          <a:p>
            <a:pPr marL="0" indent="0">
              <a:buNone/>
            </a:pPr>
            <a:r>
              <a:rPr lang="en-US" sz="1100" b="1" dirty="0">
                <a:solidFill>
                  <a:srgbClr val="1E2A38"/>
                </a:solidFill>
                <a:latin typeface="Calibri" pitchFamily="34" charset="0"/>
                <a:ea typeface="Calibri" pitchFamily="34" charset="-122"/>
                <a:cs typeface="Calibri" pitchFamily="34" charset="-120"/>
              </a:rPr>
              <a:t>subsample</a:t>
            </a:r>
            <a:endParaRPr lang="en-US" sz="1100" dirty="0"/>
          </a:p>
        </p:txBody>
      </p:sp>
      <p:sp>
        <p:nvSpPr>
          <p:cNvPr id="36" name="Text 34"/>
          <p:cNvSpPr/>
          <p:nvPr/>
        </p:nvSpPr>
        <p:spPr>
          <a:xfrm>
            <a:off x="6629400" y="3182112"/>
            <a:ext cx="1920240" cy="256032"/>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0.8 / 1.0</a:t>
            </a:r>
            <a:endParaRPr lang="en-US" sz="1100" dirty="0"/>
          </a:p>
        </p:txBody>
      </p:sp>
      <p:sp>
        <p:nvSpPr>
          <p:cNvPr id="37" name="Shape 35"/>
          <p:cNvSpPr/>
          <p:nvPr/>
        </p:nvSpPr>
        <p:spPr>
          <a:xfrm>
            <a:off x="4892040" y="3529584"/>
            <a:ext cx="3749040" cy="329184"/>
          </a:xfrm>
          <a:prstGeom prst="rect">
            <a:avLst/>
          </a:prstGeom>
          <a:solidFill>
            <a:srgbClr val="F8F9FA"/>
          </a:solidFill>
          <a:ln w="12700">
            <a:solidFill>
              <a:srgbClr val="E2E8F0"/>
            </a:solidFill>
            <a:prstDash val="solid"/>
          </a:ln>
        </p:spPr>
        <p:txBody>
          <a:bodyPr/>
          <a:lstStyle/>
          <a:p>
            <a:endParaRPr lang="es-MX"/>
          </a:p>
        </p:txBody>
      </p:sp>
      <p:sp>
        <p:nvSpPr>
          <p:cNvPr id="38" name="Text 36"/>
          <p:cNvSpPr/>
          <p:nvPr/>
        </p:nvSpPr>
        <p:spPr>
          <a:xfrm>
            <a:off x="4983480" y="3566160"/>
            <a:ext cx="1645920" cy="256032"/>
          </a:xfrm>
          <a:prstGeom prst="rect">
            <a:avLst/>
          </a:prstGeom>
          <a:noFill/>
          <a:ln/>
        </p:spPr>
        <p:txBody>
          <a:bodyPr wrap="square" lIns="0" tIns="0" rIns="0" bIns="0" rtlCol="0" anchor="ctr"/>
          <a:lstStyle/>
          <a:p>
            <a:pPr marL="0" indent="0">
              <a:buNone/>
            </a:pPr>
            <a:r>
              <a:rPr lang="en-US" sz="1100" b="1" dirty="0">
                <a:solidFill>
                  <a:srgbClr val="1E2A38"/>
                </a:solidFill>
                <a:latin typeface="Calibri" pitchFamily="34" charset="0"/>
                <a:ea typeface="Calibri" pitchFamily="34" charset="-122"/>
                <a:cs typeface="Calibri" pitchFamily="34" charset="-120"/>
              </a:rPr>
              <a:t>reg_alpha</a:t>
            </a:r>
            <a:endParaRPr lang="en-US" sz="1100" dirty="0"/>
          </a:p>
        </p:txBody>
      </p:sp>
      <p:sp>
        <p:nvSpPr>
          <p:cNvPr id="39" name="Text 37"/>
          <p:cNvSpPr/>
          <p:nvPr/>
        </p:nvSpPr>
        <p:spPr>
          <a:xfrm>
            <a:off x="6629400" y="3566160"/>
            <a:ext cx="1920240" cy="256032"/>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0 / 0.1</a:t>
            </a:r>
            <a:endParaRPr lang="en-US" sz="1100" dirty="0"/>
          </a:p>
        </p:txBody>
      </p:sp>
      <p:sp>
        <p:nvSpPr>
          <p:cNvPr id="40" name="Text 38"/>
          <p:cNvSpPr/>
          <p:nvPr/>
        </p:nvSpPr>
        <p:spPr>
          <a:xfrm>
            <a:off x="4892040" y="3977640"/>
            <a:ext cx="3749040" cy="82296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Idea clave: cada árbol corrige los errores del anterior (boosting secuencial), con regularización L1/L2.</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0D9488"/>
          </a:solidFill>
          <a:ln w="12700">
            <a:solidFill>
              <a:srgbClr val="0D9488"/>
            </a:solidFill>
            <a:prstDash val="solid"/>
          </a:ln>
        </p:spPr>
        <p:txBody>
          <a:bodyPr/>
          <a:lstStyle/>
          <a:p>
            <a:endParaRPr lang="es-MX"/>
          </a:p>
        </p:txBody>
      </p:sp>
      <p:sp>
        <p:nvSpPr>
          <p:cNvPr id="3" name="Text 1"/>
          <p:cNvSpPr/>
          <p:nvPr/>
        </p:nvSpPr>
        <p:spPr>
          <a:xfrm>
            <a:off x="457200" y="320040"/>
            <a:ext cx="8229600" cy="594360"/>
          </a:xfrm>
          <a:prstGeom prst="rect">
            <a:avLst/>
          </a:prstGeom>
          <a:noFill/>
          <a:ln/>
        </p:spPr>
        <p:txBody>
          <a:bodyPr wrap="square" lIns="0" tIns="0" rIns="0" bIns="0" rtlCol="0" anchor="ctr"/>
          <a:lstStyle/>
          <a:p>
            <a:pPr marL="0" indent="0">
              <a:buNone/>
            </a:pPr>
            <a:r>
              <a:rPr lang="en-US" sz="2700" b="1" dirty="0">
                <a:solidFill>
                  <a:srgbClr val="1E2A38"/>
                </a:solidFill>
                <a:latin typeface="Calibri" pitchFamily="34" charset="0"/>
                <a:ea typeface="Calibri" pitchFamily="34" charset="-122"/>
                <a:cs typeface="Calibri" pitchFamily="34" charset="-120"/>
              </a:rPr>
              <a:t>Resultados — Validación Cruzada Temporal (k=3)</a:t>
            </a:r>
            <a:endParaRPr lang="en-US" sz="2700" dirty="0"/>
          </a:p>
        </p:txBody>
      </p:sp>
      <p:sp>
        <p:nvSpPr>
          <p:cNvPr id="4" name="Shape 2"/>
          <p:cNvSpPr/>
          <p:nvPr/>
        </p:nvSpPr>
        <p:spPr>
          <a:xfrm>
            <a:off x="457200" y="1097280"/>
            <a:ext cx="4023360" cy="256032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5" name="Shape 3"/>
          <p:cNvSpPr/>
          <p:nvPr/>
        </p:nvSpPr>
        <p:spPr>
          <a:xfrm>
            <a:off x="457200" y="1097280"/>
            <a:ext cx="4023360" cy="457200"/>
          </a:xfrm>
          <a:prstGeom prst="rect">
            <a:avLst/>
          </a:prstGeom>
          <a:solidFill>
            <a:srgbClr val="2E86AB"/>
          </a:solidFill>
          <a:ln w="12700">
            <a:solidFill>
              <a:srgbClr val="2E86AB"/>
            </a:solidFill>
            <a:prstDash val="solid"/>
          </a:ln>
        </p:spPr>
        <p:txBody>
          <a:bodyPr/>
          <a:lstStyle/>
          <a:p>
            <a:endParaRPr lang="es-MX"/>
          </a:p>
        </p:txBody>
      </p:sp>
      <p:sp>
        <p:nvSpPr>
          <p:cNvPr id="6" name="Text 4"/>
          <p:cNvSpPr/>
          <p:nvPr/>
        </p:nvSpPr>
        <p:spPr>
          <a:xfrm>
            <a:off x="457200" y="1097280"/>
            <a:ext cx="402336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  Random Forest</a:t>
            </a:r>
            <a:endParaRPr lang="en-US" sz="1400" dirty="0"/>
          </a:p>
        </p:txBody>
      </p:sp>
      <p:sp>
        <p:nvSpPr>
          <p:cNvPr id="7" name="Text 5"/>
          <p:cNvSpPr/>
          <p:nvPr/>
        </p:nvSpPr>
        <p:spPr>
          <a:xfrm>
            <a:off x="457200" y="1627632"/>
            <a:ext cx="4023360" cy="27432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R² Prueba</a:t>
            </a:r>
            <a:endParaRPr lang="en-US" sz="1100" dirty="0"/>
          </a:p>
        </p:txBody>
      </p:sp>
      <p:sp>
        <p:nvSpPr>
          <p:cNvPr id="8" name="Text 6"/>
          <p:cNvSpPr/>
          <p:nvPr/>
        </p:nvSpPr>
        <p:spPr>
          <a:xfrm>
            <a:off x="457200" y="1874520"/>
            <a:ext cx="4023360" cy="685800"/>
          </a:xfrm>
          <a:prstGeom prst="rect">
            <a:avLst/>
          </a:prstGeom>
          <a:noFill/>
          <a:ln/>
        </p:spPr>
        <p:txBody>
          <a:bodyPr wrap="square" lIns="0" tIns="0" rIns="0" bIns="0" rtlCol="0" anchor="ctr"/>
          <a:lstStyle/>
          <a:p>
            <a:pPr marL="0" indent="0" algn="ctr">
              <a:buNone/>
            </a:pPr>
            <a:r>
              <a:rPr lang="en-US" sz="4400" b="1" dirty="0">
                <a:solidFill>
                  <a:srgbClr val="2E86AB"/>
                </a:solidFill>
                <a:latin typeface="Calibri" pitchFamily="34" charset="0"/>
                <a:ea typeface="Calibri" pitchFamily="34" charset="-122"/>
                <a:cs typeface="Calibri" pitchFamily="34" charset="-120"/>
              </a:rPr>
              <a:t>0.8407</a:t>
            </a:r>
            <a:endParaRPr lang="en-US" sz="4400" dirty="0"/>
          </a:p>
        </p:txBody>
      </p:sp>
      <p:sp>
        <p:nvSpPr>
          <p:cNvPr id="9" name="Text 7"/>
          <p:cNvSpPr/>
          <p:nvPr/>
        </p:nvSpPr>
        <p:spPr>
          <a:xfrm>
            <a:off x="457200" y="2542032"/>
            <a:ext cx="402336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±0.0480</a:t>
            </a:r>
            <a:endParaRPr lang="en-US" sz="1200" dirty="0"/>
          </a:p>
        </p:txBody>
      </p:sp>
      <p:sp>
        <p:nvSpPr>
          <p:cNvPr id="10" name="Text 8"/>
          <p:cNvSpPr/>
          <p:nvPr/>
        </p:nvSpPr>
        <p:spPr>
          <a:xfrm>
            <a:off x="457200" y="2880360"/>
            <a:ext cx="402336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R² Entrenamiento: 1.0000</a:t>
            </a:r>
            <a:endParaRPr lang="en-US" sz="1100" dirty="0"/>
          </a:p>
        </p:txBody>
      </p:sp>
      <p:sp>
        <p:nvSpPr>
          <p:cNvPr id="11" name="Shape 9"/>
          <p:cNvSpPr/>
          <p:nvPr/>
        </p:nvSpPr>
        <p:spPr>
          <a:xfrm>
            <a:off x="4846320" y="1097280"/>
            <a:ext cx="4023360" cy="256032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12" name="Shape 10"/>
          <p:cNvSpPr/>
          <p:nvPr/>
        </p:nvSpPr>
        <p:spPr>
          <a:xfrm>
            <a:off x="4846320" y="1097280"/>
            <a:ext cx="4023360" cy="457200"/>
          </a:xfrm>
          <a:prstGeom prst="rect">
            <a:avLst/>
          </a:prstGeom>
          <a:solidFill>
            <a:srgbClr val="DAA520"/>
          </a:solidFill>
          <a:ln w="12700">
            <a:solidFill>
              <a:srgbClr val="DAA520"/>
            </a:solidFill>
            <a:prstDash val="solid"/>
          </a:ln>
        </p:spPr>
        <p:txBody>
          <a:bodyPr/>
          <a:lstStyle/>
          <a:p>
            <a:endParaRPr lang="es-MX"/>
          </a:p>
        </p:txBody>
      </p:sp>
      <p:sp>
        <p:nvSpPr>
          <p:cNvPr id="13" name="Text 11"/>
          <p:cNvSpPr/>
          <p:nvPr/>
        </p:nvSpPr>
        <p:spPr>
          <a:xfrm>
            <a:off x="4846320" y="1097280"/>
            <a:ext cx="4023360" cy="457200"/>
          </a:xfrm>
          <a:prstGeom prst="rect">
            <a:avLst/>
          </a:prstGeom>
          <a:noFill/>
          <a:ln/>
        </p:spPr>
        <p:txBody>
          <a:bodyPr wrap="square" lIns="0" tIns="0" rIns="0" bIns="0" rtlCol="0" anchor="ctr"/>
          <a:lstStyle/>
          <a:p>
            <a:pPr marL="0" indent="0" algn="ctr">
              <a:buNone/>
            </a:pPr>
            <a:r>
              <a:rPr lang="en-US" sz="1400" b="1" dirty="0">
                <a:solidFill>
                  <a:srgbClr val="0F1923"/>
                </a:solidFill>
                <a:latin typeface="Calibri" pitchFamily="34" charset="0"/>
                <a:ea typeface="Calibri" pitchFamily="34" charset="-122"/>
                <a:cs typeface="Calibri" pitchFamily="34" charset="-120"/>
              </a:rPr>
              <a:t>⚡  XGBoost</a:t>
            </a:r>
            <a:endParaRPr lang="en-US" sz="1400" dirty="0"/>
          </a:p>
        </p:txBody>
      </p:sp>
      <p:sp>
        <p:nvSpPr>
          <p:cNvPr id="14" name="Text 12"/>
          <p:cNvSpPr/>
          <p:nvPr/>
        </p:nvSpPr>
        <p:spPr>
          <a:xfrm>
            <a:off x="4846320" y="1627632"/>
            <a:ext cx="4023360" cy="27432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R² Prueba</a:t>
            </a:r>
            <a:endParaRPr lang="en-US" sz="1100" dirty="0"/>
          </a:p>
        </p:txBody>
      </p:sp>
      <p:sp>
        <p:nvSpPr>
          <p:cNvPr id="15" name="Text 13"/>
          <p:cNvSpPr/>
          <p:nvPr/>
        </p:nvSpPr>
        <p:spPr>
          <a:xfrm>
            <a:off x="4846320" y="1874520"/>
            <a:ext cx="4023360" cy="685800"/>
          </a:xfrm>
          <a:prstGeom prst="rect">
            <a:avLst/>
          </a:prstGeom>
          <a:noFill/>
          <a:ln/>
        </p:spPr>
        <p:txBody>
          <a:bodyPr wrap="square" lIns="0" tIns="0" rIns="0" bIns="0" rtlCol="0" anchor="ctr"/>
          <a:lstStyle/>
          <a:p>
            <a:pPr marL="0" indent="0" algn="ctr">
              <a:buNone/>
            </a:pPr>
            <a:r>
              <a:rPr lang="en-US" sz="4400" b="1" dirty="0">
                <a:solidFill>
                  <a:srgbClr val="DAA520"/>
                </a:solidFill>
                <a:latin typeface="Calibri" pitchFamily="34" charset="0"/>
                <a:ea typeface="Calibri" pitchFamily="34" charset="-122"/>
                <a:cs typeface="Calibri" pitchFamily="34" charset="-120"/>
              </a:rPr>
              <a:t>0.8164</a:t>
            </a:r>
            <a:endParaRPr lang="en-US" sz="4400" dirty="0"/>
          </a:p>
        </p:txBody>
      </p:sp>
      <p:sp>
        <p:nvSpPr>
          <p:cNvPr id="16" name="Text 14"/>
          <p:cNvSpPr/>
          <p:nvPr/>
        </p:nvSpPr>
        <p:spPr>
          <a:xfrm>
            <a:off x="4846320" y="2542032"/>
            <a:ext cx="402336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±0.0532</a:t>
            </a:r>
            <a:endParaRPr lang="en-US" sz="1200" dirty="0"/>
          </a:p>
        </p:txBody>
      </p:sp>
      <p:sp>
        <p:nvSpPr>
          <p:cNvPr id="17" name="Text 15"/>
          <p:cNvSpPr/>
          <p:nvPr/>
        </p:nvSpPr>
        <p:spPr>
          <a:xfrm>
            <a:off x="4846320" y="2880360"/>
            <a:ext cx="402336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R² Entrenamiento: 0.9999</a:t>
            </a:r>
            <a:endParaRPr lang="en-US" sz="1100" dirty="0"/>
          </a:p>
        </p:txBody>
      </p:sp>
      <p:graphicFrame>
        <p:nvGraphicFramePr>
          <p:cNvPr id="18" name="Chart 0"/>
          <p:cNvGraphicFramePr/>
          <p:nvPr/>
        </p:nvGraphicFramePr>
        <p:xfrm>
          <a:off x="457200" y="3749040"/>
          <a:ext cx="8229600" cy="123444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DAA520"/>
          </a:solidFill>
          <a:ln w="12700">
            <a:solidFill>
              <a:srgbClr val="DAA520"/>
            </a:solidFill>
            <a:prstDash val="solid"/>
          </a:ln>
        </p:spPr>
        <p:txBody>
          <a:bodyPr/>
          <a:lstStyle/>
          <a:p>
            <a:endParaRPr lang="es-MX"/>
          </a:p>
        </p:txBody>
      </p:sp>
      <p:sp>
        <p:nvSpPr>
          <p:cNvPr id="3" name="Text 1"/>
          <p:cNvSpPr/>
          <p:nvPr/>
        </p:nvSpPr>
        <p:spPr>
          <a:xfrm>
            <a:off x="457200" y="320040"/>
            <a:ext cx="8229600" cy="594360"/>
          </a:xfrm>
          <a:prstGeom prst="rect">
            <a:avLst/>
          </a:prstGeom>
          <a:noFill/>
          <a:ln/>
        </p:spPr>
        <p:txBody>
          <a:bodyPr wrap="square" lIns="0" tIns="0" rIns="0" bIns="0" rtlCol="0" anchor="ctr"/>
          <a:lstStyle/>
          <a:p>
            <a:pPr marL="0" indent="0">
              <a:buNone/>
            </a:pPr>
            <a:r>
              <a:rPr lang="en-US" sz="3000" b="1" dirty="0">
                <a:solidFill>
                  <a:srgbClr val="1E2A38"/>
                </a:solidFill>
                <a:latin typeface="Calibri" pitchFamily="34" charset="0"/>
                <a:ea typeface="Calibri" pitchFamily="34" charset="-122"/>
                <a:cs typeface="Calibri" pitchFamily="34" charset="-120"/>
              </a:rPr>
              <a:t>Conclusiones</a:t>
            </a:r>
            <a:endParaRPr lang="en-US" sz="3000" dirty="0"/>
          </a:p>
        </p:txBody>
      </p:sp>
      <p:sp>
        <p:nvSpPr>
          <p:cNvPr id="4" name="Shape 2"/>
          <p:cNvSpPr/>
          <p:nvPr/>
        </p:nvSpPr>
        <p:spPr>
          <a:xfrm>
            <a:off x="457200" y="1097280"/>
            <a:ext cx="4114800" cy="16916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5" name="Shape 3"/>
          <p:cNvSpPr/>
          <p:nvPr/>
        </p:nvSpPr>
        <p:spPr>
          <a:xfrm>
            <a:off x="457200" y="1097280"/>
            <a:ext cx="128016" cy="1691640"/>
          </a:xfrm>
          <a:prstGeom prst="rect">
            <a:avLst/>
          </a:prstGeom>
          <a:solidFill>
            <a:srgbClr val="DAA520"/>
          </a:solidFill>
          <a:ln w="12700">
            <a:solidFill>
              <a:srgbClr val="DAA520"/>
            </a:solidFill>
            <a:prstDash val="solid"/>
          </a:ln>
        </p:spPr>
        <p:txBody>
          <a:bodyPr/>
          <a:lstStyle/>
          <a:p>
            <a:endParaRPr lang="es-MX"/>
          </a:p>
        </p:txBody>
      </p:sp>
      <p:sp>
        <p:nvSpPr>
          <p:cNvPr id="6" name="Text 4"/>
          <p:cNvSpPr/>
          <p:nvPr/>
        </p:nvSpPr>
        <p:spPr>
          <a:xfrm>
            <a:off x="685800" y="1188720"/>
            <a:ext cx="3749040" cy="411480"/>
          </a:xfrm>
          <a:prstGeom prst="rect">
            <a:avLst/>
          </a:prstGeom>
          <a:noFill/>
          <a:ln/>
        </p:spPr>
        <p:txBody>
          <a:bodyPr wrap="square" lIns="0" tIns="0" rIns="0" bIns="0" rtlCol="0" anchor="ctr"/>
          <a:lstStyle/>
          <a:p>
            <a:pPr marL="0" indent="0">
              <a:buNone/>
            </a:pPr>
            <a:r>
              <a:rPr lang="en-US" sz="1200" b="1" dirty="0">
                <a:solidFill>
                  <a:srgbClr val="1E2A38"/>
                </a:solidFill>
                <a:latin typeface="Calibri" pitchFamily="34" charset="0"/>
                <a:ea typeface="Calibri" pitchFamily="34" charset="-122"/>
                <a:cs typeface="Calibri" pitchFamily="34" charset="-120"/>
              </a:rPr>
              <a:t>✅  Ingeniería de características fue clave</a:t>
            </a:r>
            <a:endParaRPr lang="en-US" sz="1200" dirty="0"/>
          </a:p>
        </p:txBody>
      </p:sp>
      <p:sp>
        <p:nvSpPr>
          <p:cNvPr id="7" name="Text 5"/>
          <p:cNvSpPr/>
          <p:nvPr/>
        </p:nvSpPr>
        <p:spPr>
          <a:xfrm>
            <a:off x="685800" y="1600200"/>
            <a:ext cx="3794760" cy="105156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Los rezagos del precio del oro tuvieron correlación de 0.9999 con el target. Sin ellos, los modelos tendrían solo 3 variables originales.</a:t>
            </a:r>
            <a:endParaRPr lang="en-US" sz="1050" dirty="0"/>
          </a:p>
        </p:txBody>
      </p:sp>
      <p:sp>
        <p:nvSpPr>
          <p:cNvPr id="8" name="Shape 6"/>
          <p:cNvSpPr/>
          <p:nvPr/>
        </p:nvSpPr>
        <p:spPr>
          <a:xfrm>
            <a:off x="4846320" y="1097280"/>
            <a:ext cx="4114800" cy="16916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9" name="Shape 7"/>
          <p:cNvSpPr/>
          <p:nvPr/>
        </p:nvSpPr>
        <p:spPr>
          <a:xfrm>
            <a:off x="4846320" y="1097280"/>
            <a:ext cx="128016" cy="1691640"/>
          </a:xfrm>
          <a:prstGeom prst="rect">
            <a:avLst/>
          </a:prstGeom>
          <a:solidFill>
            <a:srgbClr val="DAA520"/>
          </a:solidFill>
          <a:ln w="12700">
            <a:solidFill>
              <a:srgbClr val="DAA520"/>
            </a:solidFill>
            <a:prstDash val="solid"/>
          </a:ln>
        </p:spPr>
        <p:txBody>
          <a:bodyPr/>
          <a:lstStyle/>
          <a:p>
            <a:endParaRPr lang="es-MX"/>
          </a:p>
        </p:txBody>
      </p:sp>
      <p:sp>
        <p:nvSpPr>
          <p:cNvPr id="10" name="Text 8"/>
          <p:cNvSpPr/>
          <p:nvPr/>
        </p:nvSpPr>
        <p:spPr>
          <a:xfrm>
            <a:off x="5074920" y="1188720"/>
            <a:ext cx="3749040" cy="411480"/>
          </a:xfrm>
          <a:prstGeom prst="rect">
            <a:avLst/>
          </a:prstGeom>
          <a:noFill/>
          <a:ln/>
        </p:spPr>
        <p:txBody>
          <a:bodyPr wrap="square" lIns="0" tIns="0" rIns="0" bIns="0" rtlCol="0" anchor="ctr"/>
          <a:lstStyle/>
          <a:p>
            <a:pPr marL="0" indent="0">
              <a:buNone/>
            </a:pPr>
            <a:r>
              <a:rPr lang="en-US" sz="1200" b="1" dirty="0">
                <a:solidFill>
                  <a:srgbClr val="1E2A38"/>
                </a:solidFill>
                <a:latin typeface="Calibri" pitchFamily="34" charset="0"/>
                <a:ea typeface="Calibri" pitchFamily="34" charset="-122"/>
                <a:cs typeface="Calibri" pitchFamily="34" charset="-120"/>
              </a:rPr>
              <a:t>⚖️  Random Forest supera ligeramente a XGBoost</a:t>
            </a:r>
            <a:endParaRPr lang="en-US" sz="1200" dirty="0"/>
          </a:p>
        </p:txBody>
      </p:sp>
      <p:sp>
        <p:nvSpPr>
          <p:cNvPr id="11" name="Text 9"/>
          <p:cNvSpPr/>
          <p:nvPr/>
        </p:nvSpPr>
        <p:spPr>
          <a:xfrm>
            <a:off x="5074920" y="1600200"/>
            <a:ext cx="3794760" cy="105156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RF: R²=0.84 ± 0.048 vs XGBoost: R²=0.82 ± 0.053. Ambos explican más del 80% de la varianza del precio del oro.</a:t>
            </a:r>
            <a:endParaRPr lang="en-US" sz="1050" dirty="0"/>
          </a:p>
        </p:txBody>
      </p:sp>
      <p:sp>
        <p:nvSpPr>
          <p:cNvPr id="12" name="Shape 10"/>
          <p:cNvSpPr/>
          <p:nvPr/>
        </p:nvSpPr>
        <p:spPr>
          <a:xfrm>
            <a:off x="457200" y="2971800"/>
            <a:ext cx="4114800" cy="16916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13" name="Shape 11"/>
          <p:cNvSpPr/>
          <p:nvPr/>
        </p:nvSpPr>
        <p:spPr>
          <a:xfrm>
            <a:off x="457200" y="2971800"/>
            <a:ext cx="128016" cy="1691640"/>
          </a:xfrm>
          <a:prstGeom prst="rect">
            <a:avLst/>
          </a:prstGeom>
          <a:solidFill>
            <a:srgbClr val="DAA520"/>
          </a:solidFill>
          <a:ln w="12700">
            <a:solidFill>
              <a:srgbClr val="DAA520"/>
            </a:solidFill>
            <a:prstDash val="solid"/>
          </a:ln>
        </p:spPr>
        <p:txBody>
          <a:bodyPr/>
          <a:lstStyle/>
          <a:p>
            <a:endParaRPr lang="es-MX"/>
          </a:p>
        </p:txBody>
      </p:sp>
      <p:sp>
        <p:nvSpPr>
          <p:cNvPr id="14" name="Text 12"/>
          <p:cNvSpPr/>
          <p:nvPr/>
        </p:nvSpPr>
        <p:spPr>
          <a:xfrm>
            <a:off x="685800" y="3063240"/>
            <a:ext cx="3749040" cy="411480"/>
          </a:xfrm>
          <a:prstGeom prst="rect">
            <a:avLst/>
          </a:prstGeom>
          <a:noFill/>
          <a:ln/>
        </p:spPr>
        <p:txBody>
          <a:bodyPr wrap="square" lIns="0" tIns="0" rIns="0" bIns="0" rtlCol="0" anchor="ctr"/>
          <a:lstStyle/>
          <a:p>
            <a:pPr marL="0" indent="0">
              <a:buNone/>
            </a:pPr>
            <a:r>
              <a:rPr lang="en-US" sz="1200" b="1" dirty="0">
                <a:solidFill>
                  <a:srgbClr val="1E2A38"/>
                </a:solidFill>
                <a:latin typeface="Calibri" pitchFamily="34" charset="0"/>
                <a:ea typeface="Calibri" pitchFamily="34" charset="-122"/>
                <a:cs typeface="Calibri" pitchFamily="34" charset="-120"/>
              </a:rPr>
              <a:t>📉  </a:t>
            </a:r>
            <a:r>
              <a:rPr lang="en-US" sz="1200" b="1" dirty="0" err="1">
                <a:solidFill>
                  <a:srgbClr val="1E2A38"/>
                </a:solidFill>
                <a:latin typeface="Calibri" pitchFamily="34" charset="0"/>
                <a:ea typeface="Calibri" pitchFamily="34" charset="-122"/>
                <a:cs typeface="Calibri" pitchFamily="34" charset="-120"/>
              </a:rPr>
              <a:t>Sobreajuste</a:t>
            </a:r>
            <a:r>
              <a:rPr lang="en-US" sz="1200" b="1" dirty="0">
                <a:solidFill>
                  <a:srgbClr val="1E2A38"/>
                </a:solidFill>
                <a:latin typeface="Calibri" pitchFamily="34" charset="0"/>
                <a:ea typeface="Calibri" pitchFamily="34" charset="-122"/>
                <a:cs typeface="Calibri" pitchFamily="34" charset="-120"/>
              </a:rPr>
              <a:t> </a:t>
            </a:r>
            <a:r>
              <a:rPr lang="en-US" sz="1200" b="1" dirty="0" err="1">
                <a:solidFill>
                  <a:srgbClr val="1E2A38"/>
                </a:solidFill>
                <a:latin typeface="Calibri" pitchFamily="34" charset="0"/>
                <a:ea typeface="Calibri" pitchFamily="34" charset="-122"/>
                <a:cs typeface="Calibri" pitchFamily="34" charset="-120"/>
              </a:rPr>
              <a:t>en</a:t>
            </a:r>
            <a:r>
              <a:rPr lang="en-US" sz="1200" b="1" dirty="0">
                <a:solidFill>
                  <a:srgbClr val="1E2A38"/>
                </a:solidFill>
                <a:latin typeface="Calibri" pitchFamily="34" charset="0"/>
                <a:ea typeface="Calibri" pitchFamily="34" charset="-122"/>
                <a:cs typeface="Calibri" pitchFamily="34" charset="-120"/>
              </a:rPr>
              <a:t> </a:t>
            </a:r>
            <a:r>
              <a:rPr lang="en-US" sz="1200" b="1" dirty="0" err="1">
                <a:solidFill>
                  <a:srgbClr val="1E2A38"/>
                </a:solidFill>
                <a:latin typeface="Calibri" pitchFamily="34" charset="0"/>
                <a:ea typeface="Calibri" pitchFamily="34" charset="-122"/>
                <a:cs typeface="Calibri" pitchFamily="34" charset="-120"/>
              </a:rPr>
              <a:t>el</a:t>
            </a:r>
            <a:r>
              <a:rPr lang="en-US" sz="1200" b="1" dirty="0">
                <a:solidFill>
                  <a:srgbClr val="1E2A38"/>
                </a:solidFill>
                <a:latin typeface="Calibri" pitchFamily="34" charset="0"/>
                <a:ea typeface="Calibri" pitchFamily="34" charset="-122"/>
                <a:cs typeface="Calibri" pitchFamily="34" charset="-120"/>
              </a:rPr>
              <a:t> </a:t>
            </a:r>
            <a:r>
              <a:rPr lang="en-US" sz="1200" b="1" dirty="0" err="1">
                <a:solidFill>
                  <a:srgbClr val="1E2A38"/>
                </a:solidFill>
                <a:latin typeface="Calibri" pitchFamily="34" charset="0"/>
                <a:ea typeface="Calibri" pitchFamily="34" charset="-122"/>
                <a:cs typeface="Calibri" pitchFamily="34" charset="-120"/>
              </a:rPr>
              <a:t>entrenamiento</a:t>
            </a:r>
            <a:endParaRPr lang="en-US" sz="1200" dirty="0"/>
          </a:p>
        </p:txBody>
      </p:sp>
      <p:sp>
        <p:nvSpPr>
          <p:cNvPr id="15" name="Text 13"/>
          <p:cNvSpPr/>
          <p:nvPr/>
        </p:nvSpPr>
        <p:spPr>
          <a:xfrm>
            <a:off x="685800" y="3474720"/>
            <a:ext cx="3794760" cy="105156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R² entrenamiento de 1.0 vs 0.84 en prueba. Lo que importa es el R² de prueba — el modelo generaliza bien con datos nuevos.</a:t>
            </a:r>
            <a:endParaRPr lang="en-US" sz="1050" dirty="0"/>
          </a:p>
        </p:txBody>
      </p:sp>
      <p:sp>
        <p:nvSpPr>
          <p:cNvPr id="16" name="Shape 14"/>
          <p:cNvSpPr/>
          <p:nvPr/>
        </p:nvSpPr>
        <p:spPr>
          <a:xfrm>
            <a:off x="4846320" y="2971800"/>
            <a:ext cx="4114800" cy="16916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s-MX"/>
          </a:p>
        </p:txBody>
      </p:sp>
      <p:sp>
        <p:nvSpPr>
          <p:cNvPr id="17" name="Shape 15"/>
          <p:cNvSpPr/>
          <p:nvPr/>
        </p:nvSpPr>
        <p:spPr>
          <a:xfrm>
            <a:off x="4846320" y="2971800"/>
            <a:ext cx="128016" cy="1691640"/>
          </a:xfrm>
          <a:prstGeom prst="rect">
            <a:avLst/>
          </a:prstGeom>
          <a:solidFill>
            <a:srgbClr val="DAA520"/>
          </a:solidFill>
          <a:ln w="12700">
            <a:solidFill>
              <a:srgbClr val="DAA520"/>
            </a:solidFill>
            <a:prstDash val="solid"/>
          </a:ln>
        </p:spPr>
        <p:txBody>
          <a:bodyPr/>
          <a:lstStyle/>
          <a:p>
            <a:endParaRPr lang="es-MX"/>
          </a:p>
        </p:txBody>
      </p:sp>
      <p:sp>
        <p:nvSpPr>
          <p:cNvPr id="18" name="Text 16"/>
          <p:cNvSpPr/>
          <p:nvPr/>
        </p:nvSpPr>
        <p:spPr>
          <a:xfrm>
            <a:off x="5074920" y="3063240"/>
            <a:ext cx="3749040" cy="411480"/>
          </a:xfrm>
          <a:prstGeom prst="rect">
            <a:avLst/>
          </a:prstGeom>
          <a:noFill/>
          <a:ln/>
        </p:spPr>
        <p:txBody>
          <a:bodyPr wrap="square" lIns="0" tIns="0" rIns="0" bIns="0" rtlCol="0" anchor="ctr"/>
          <a:lstStyle/>
          <a:p>
            <a:pPr marL="0" indent="0">
              <a:buNone/>
            </a:pPr>
            <a:r>
              <a:rPr lang="en-US" sz="1200" b="1" dirty="0">
                <a:solidFill>
                  <a:srgbClr val="1E2A38"/>
                </a:solidFill>
                <a:latin typeface="Calibri" pitchFamily="34" charset="0"/>
                <a:ea typeface="Calibri" pitchFamily="34" charset="-122"/>
                <a:cs typeface="Calibri" pitchFamily="34" charset="-120"/>
              </a:rPr>
              <a:t>⏱️  TimeSeriesSplit con test_size=100 fue clave</a:t>
            </a:r>
            <a:endParaRPr lang="en-US" sz="1200" dirty="0"/>
          </a:p>
        </p:txBody>
      </p:sp>
      <p:sp>
        <p:nvSpPr>
          <p:cNvPr id="19" name="Text 17"/>
          <p:cNvSpPr/>
          <p:nvPr/>
        </p:nvSpPr>
        <p:spPr>
          <a:xfrm>
            <a:off x="5074920" y="3474720"/>
            <a:ext cx="3794760" cy="105156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Limitar el conjunto de validación a 100 días evitó que los folds finales tuvieran precios históricamente más altos, estabilizando el R².</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923"/>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DAA520"/>
          </a:solidFill>
          <a:ln w="12700">
            <a:solidFill>
              <a:srgbClr val="DAA520"/>
            </a:solidFill>
            <a:prstDash val="solid"/>
          </a:ln>
        </p:spPr>
        <p:txBody>
          <a:bodyPr/>
          <a:lstStyle/>
          <a:p>
            <a:endParaRPr lang="es-MX"/>
          </a:p>
        </p:txBody>
      </p:sp>
      <p:sp>
        <p:nvSpPr>
          <p:cNvPr id="3" name="Text 1"/>
          <p:cNvSpPr/>
          <p:nvPr/>
        </p:nvSpPr>
        <p:spPr>
          <a:xfrm>
            <a:off x="502920" y="914400"/>
            <a:ext cx="8229600" cy="914400"/>
          </a:xfrm>
          <a:prstGeom prst="rect">
            <a:avLst/>
          </a:prstGeom>
          <a:noFill/>
          <a:ln/>
        </p:spPr>
        <p:txBody>
          <a:bodyPr wrap="square" lIns="0" tIns="0" rIns="0" bIns="0" rtlCol="0" anchor="ctr"/>
          <a:lstStyle/>
          <a:p>
            <a:pPr marL="0" indent="0" algn="l">
              <a:buNone/>
            </a:pPr>
            <a:r>
              <a:rPr lang="en-US" sz="5200" b="1" dirty="0">
                <a:solidFill>
                  <a:srgbClr val="FFFFFF"/>
                </a:solidFill>
                <a:latin typeface="Calibri" pitchFamily="34" charset="0"/>
                <a:ea typeface="Calibri" pitchFamily="34" charset="-122"/>
                <a:cs typeface="Calibri" pitchFamily="34" charset="-120"/>
              </a:rPr>
              <a:t>¡Gracias!</a:t>
            </a:r>
            <a:endParaRPr lang="en-US" sz="5200" dirty="0"/>
          </a:p>
        </p:txBody>
      </p:sp>
      <p:sp>
        <p:nvSpPr>
          <p:cNvPr id="4" name="Text 2"/>
          <p:cNvSpPr/>
          <p:nvPr/>
        </p:nvSpPr>
        <p:spPr>
          <a:xfrm>
            <a:off x="502920" y="1828800"/>
            <a:ext cx="8229600" cy="548640"/>
          </a:xfrm>
          <a:prstGeom prst="rect">
            <a:avLst/>
          </a:prstGeom>
          <a:noFill/>
          <a:ln/>
        </p:spPr>
        <p:txBody>
          <a:bodyPr wrap="square" lIns="0" tIns="0" rIns="0" bIns="0" rtlCol="0" anchor="ctr"/>
          <a:lstStyle/>
          <a:p>
            <a:pPr marL="0" indent="0" algn="l">
              <a:buNone/>
            </a:pPr>
            <a:r>
              <a:rPr lang="en-US" sz="2600" i="1" dirty="0">
                <a:solidFill>
                  <a:srgbClr val="F5C842"/>
                </a:solidFill>
                <a:latin typeface="Calibri" pitchFamily="34" charset="0"/>
                <a:ea typeface="Calibri" pitchFamily="34" charset="-122"/>
                <a:cs typeface="Calibri" pitchFamily="34" charset="-120"/>
              </a:rPr>
              <a:t>¿Preguntas?</a:t>
            </a:r>
            <a:endParaRPr lang="en-US" sz="2600" dirty="0"/>
          </a:p>
        </p:txBody>
      </p:sp>
      <p:sp>
        <p:nvSpPr>
          <p:cNvPr id="5" name="Shape 3"/>
          <p:cNvSpPr/>
          <p:nvPr/>
        </p:nvSpPr>
        <p:spPr>
          <a:xfrm>
            <a:off x="502920" y="2560320"/>
            <a:ext cx="4572000" cy="36576"/>
          </a:xfrm>
          <a:prstGeom prst="rect">
            <a:avLst/>
          </a:prstGeom>
          <a:solidFill>
            <a:srgbClr val="DAA520"/>
          </a:solidFill>
          <a:ln w="12700">
            <a:solidFill>
              <a:srgbClr val="DAA520"/>
            </a:solidFill>
            <a:prstDash val="solid"/>
          </a:ln>
        </p:spPr>
        <p:txBody>
          <a:bodyPr/>
          <a:lstStyle/>
          <a:p>
            <a:endParaRPr lang="es-MX"/>
          </a:p>
        </p:txBody>
      </p:sp>
      <p:sp>
        <p:nvSpPr>
          <p:cNvPr id="6" name="Shape 4"/>
          <p:cNvSpPr/>
          <p:nvPr/>
        </p:nvSpPr>
        <p:spPr>
          <a:xfrm>
            <a:off x="502920" y="2788920"/>
            <a:ext cx="5943600" cy="1463040"/>
          </a:xfrm>
          <a:prstGeom prst="rect">
            <a:avLst/>
          </a:prstGeom>
          <a:solidFill>
            <a:srgbClr val="1A2E40"/>
          </a:solidFill>
          <a:ln w="12700">
            <a:solidFill>
              <a:srgbClr val="DAA520"/>
            </a:solidFill>
            <a:prstDash val="solid"/>
          </a:ln>
          <a:effectLst>
            <a:outerShdw blurRad="101600" dist="38100" dir="8100000" algn="bl" rotWithShape="0">
              <a:srgbClr val="000000">
                <a:alpha val="12000"/>
              </a:srgbClr>
            </a:outerShdw>
          </a:effectLst>
        </p:spPr>
        <p:txBody>
          <a:bodyPr/>
          <a:lstStyle/>
          <a:p>
            <a:endParaRPr lang="es-MX"/>
          </a:p>
        </p:txBody>
      </p:sp>
      <p:sp>
        <p:nvSpPr>
          <p:cNvPr id="7" name="Text 5"/>
          <p:cNvSpPr/>
          <p:nvPr/>
        </p:nvSpPr>
        <p:spPr>
          <a:xfrm>
            <a:off x="685800" y="2852928"/>
            <a:ext cx="5577840" cy="365760"/>
          </a:xfrm>
          <a:prstGeom prst="rect">
            <a:avLst/>
          </a:prstGeom>
          <a:noFill/>
          <a:ln/>
        </p:spPr>
        <p:txBody>
          <a:bodyPr wrap="square" lIns="0" tIns="0" rIns="0" bIns="0" rtlCol="0" anchor="ctr"/>
          <a:lstStyle/>
          <a:p>
            <a:pPr marL="0" indent="0">
              <a:buNone/>
            </a:pPr>
            <a:r>
              <a:rPr lang="en-US" sz="1300" b="1" dirty="0">
                <a:solidFill>
                  <a:srgbClr val="F5C842"/>
                </a:solidFill>
                <a:latin typeface="Calibri" pitchFamily="34" charset="0"/>
                <a:ea typeface="Calibri" pitchFamily="34" charset="-122"/>
                <a:cs typeface="Calibri" pitchFamily="34" charset="-120"/>
              </a:rPr>
              <a:t>📂  Repositorio del Proyecto</a:t>
            </a:r>
            <a:endParaRPr lang="en-US" sz="1300" dirty="0"/>
          </a:p>
        </p:txBody>
      </p:sp>
      <p:sp>
        <p:nvSpPr>
          <p:cNvPr id="8" name="Text 6"/>
          <p:cNvSpPr/>
          <p:nvPr/>
        </p:nvSpPr>
        <p:spPr>
          <a:xfrm>
            <a:off x="685800" y="3200400"/>
            <a:ext cx="5577840" cy="3200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github.com / [usuario] / gold-price-prediction</a:t>
            </a:r>
            <a:endParaRPr lang="en-US" sz="1300" dirty="0"/>
          </a:p>
        </p:txBody>
      </p:sp>
      <p:sp>
        <p:nvSpPr>
          <p:cNvPr id="9" name="Text 7"/>
          <p:cNvSpPr/>
          <p:nvPr/>
        </p:nvSpPr>
        <p:spPr>
          <a:xfrm>
            <a:off x="685800" y="3520440"/>
            <a:ext cx="5577840" cy="548640"/>
          </a:xfrm>
          <a:prstGeom prst="rect">
            <a:avLst/>
          </a:prstGeom>
          <a:noFill/>
          <a:ln/>
        </p:spPr>
        <p:txBody>
          <a:bodyPr wrap="square" lIns="0" tIns="0" rIns="0" bIns="0"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Notebook · Dataset · Resultados</a:t>
            </a:r>
            <a:endParaRPr lang="en-US" sz="1100" dirty="0"/>
          </a:p>
        </p:txBody>
      </p:sp>
      <p:sp>
        <p:nvSpPr>
          <p:cNvPr id="10" name="Text 8"/>
          <p:cNvSpPr/>
          <p:nvPr/>
        </p:nvSpPr>
        <p:spPr>
          <a:xfrm>
            <a:off x="502920" y="4663440"/>
            <a:ext cx="8229600" cy="32004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Jorge Oviedo Magaña  ·  Alan Almaraz  ·  Aprendizaje Estadístico  ·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937</Words>
  <Application>Microsoft Office PowerPoint</Application>
  <PresentationFormat>Presentación en pantalla (16:9)</PresentationFormat>
  <Paragraphs>144</Paragraphs>
  <Slides>10</Slides>
  <Notes>10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10</vt:i4>
      </vt:variant>
    </vt:vector>
  </HeadingPairs>
  <TitlesOfParts>
    <vt:vector size="13"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Predicción del Precio del Oro</dc:title>
  <dc:subject>PptxGenJS Presentation</dc:subject>
  <dc:creator>PptxGenJS</dc:creator>
  <cp:lastModifiedBy>OVIEDO MAGAÑA, JORGE</cp:lastModifiedBy>
  <cp:revision>2</cp:revision>
  <dcterms:created xsi:type="dcterms:W3CDTF">2026-05-11T02:39:54Z</dcterms:created>
  <dcterms:modified xsi:type="dcterms:W3CDTF">2026-05-11T02:43:02Z</dcterms:modified>
</cp:coreProperties>
</file>