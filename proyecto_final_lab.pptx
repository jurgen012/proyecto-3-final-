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c:style val="2"/>
  <c:chart>
    <c:autoTitleDeleted val="1"/>
    <c:plotArea>
      <c:layout/>
      <c:barChart>
        <c:barDir val="col"/>
        <c:grouping val="clustered"/>
        <c:varyColors val="0"/>
        <c:ser>
          <c:idx val="0"/>
          <c:order val="0"/>
          <c:tx>
            <c:strRef>
              <c:f>Sheet1!$B$1</c:f>
              <c:strCache>
                <c:ptCount val="1"/>
                <c:pt idx="0">
                  <c:v>Random Forest</c:v>
                </c:pt>
              </c:strCache>
            </c:strRef>
          </c:tx>
          <c:spPr>
            <a:solidFill>
              <a:srgbClr val="2E86AB"/>
            </a:solidFill>
            <a:effectLst/>
          </c:spPr>
          <c:invertIfNegative val="0"/>
          <c:cat>
            <c:strRef>
              <c:f>Sheet1!$A$2:$A$6</c:f>
              <c:strCache>
                <c:ptCount val="5"/>
                <c:pt idx="0">
                  <c:v>Fold 1</c:v>
                </c:pt>
                <c:pt idx="1">
                  <c:v>Fold 2</c:v>
                </c:pt>
                <c:pt idx="2">
                  <c:v>Fold 3</c:v>
                </c:pt>
                <c:pt idx="3">
                  <c:v>Fold 4</c:v>
                </c:pt>
                <c:pt idx="4">
                  <c:v>Fold 5</c:v>
                </c:pt>
              </c:strCache>
            </c:strRef>
          </c:cat>
          <c:val>
            <c:numRef>
              <c:f>Sheet1!$B$2:$B$6</c:f>
              <c:numCache>
                <c:formatCode>General</c:formatCode>
                <c:ptCount val="5"/>
                <c:pt idx="0">
                  <c:v>52</c:v>
                </c:pt>
                <c:pt idx="1">
                  <c:v>88</c:v>
                </c:pt>
                <c:pt idx="2">
                  <c:v>175</c:v>
                </c:pt>
                <c:pt idx="3">
                  <c:v>410</c:v>
                </c:pt>
                <c:pt idx="4">
                  <c:v>745</c:v>
                </c:pt>
              </c:numCache>
            </c:numRef>
          </c:val>
          <c:extLst>
            <c:ext xmlns:c16="http://schemas.microsoft.com/office/drawing/2014/chart" uri="{C3380CC4-5D6E-409C-BE32-E72D297353CC}">
              <c16:uniqueId val="{00000000-F41A-4F4A-A46A-EA83B0FFDEFE}"/>
            </c:ext>
          </c:extLst>
        </c:ser>
        <c:ser>
          <c:idx val="1"/>
          <c:order val="1"/>
          <c:tx>
            <c:strRef>
              <c:f>Sheet1!$C$1</c:f>
              <c:strCache>
                <c:ptCount val="1"/>
                <c:pt idx="0">
                  <c:v>XGBoost</c:v>
                </c:pt>
              </c:strCache>
            </c:strRef>
          </c:tx>
          <c:spPr>
            <a:solidFill>
              <a:srgbClr val="DAA520"/>
            </a:solidFill>
            <a:effectLst/>
          </c:spPr>
          <c:invertIfNegative val="0"/>
          <c:cat>
            <c:strRef>
              <c:f>Sheet1!$A$2:$A$6</c:f>
              <c:strCache>
                <c:ptCount val="5"/>
                <c:pt idx="0">
                  <c:v>Fold 1</c:v>
                </c:pt>
                <c:pt idx="1">
                  <c:v>Fold 2</c:v>
                </c:pt>
                <c:pt idx="2">
                  <c:v>Fold 3</c:v>
                </c:pt>
                <c:pt idx="3">
                  <c:v>Fold 4</c:v>
                </c:pt>
                <c:pt idx="4">
                  <c:v>Fold 5</c:v>
                </c:pt>
              </c:strCache>
            </c:strRef>
          </c:cat>
          <c:val>
            <c:numRef>
              <c:f>Sheet1!$C$2:$C$6</c:f>
              <c:numCache>
                <c:formatCode>General</c:formatCode>
                <c:ptCount val="5"/>
                <c:pt idx="0">
                  <c:v>55</c:v>
                </c:pt>
                <c:pt idx="1">
                  <c:v>91</c:v>
                </c:pt>
                <c:pt idx="2">
                  <c:v>178</c:v>
                </c:pt>
                <c:pt idx="3">
                  <c:v>415</c:v>
                </c:pt>
                <c:pt idx="4">
                  <c:v>733</c:v>
                </c:pt>
              </c:numCache>
            </c:numRef>
          </c:val>
          <c:extLst>
            <c:ext xmlns:c16="http://schemas.microsoft.com/office/drawing/2014/chart" uri="{C3380CC4-5D6E-409C-BE32-E72D297353CC}">
              <c16:uniqueId val="{00000001-F41A-4F4A-A46A-EA83B0FFDEF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solidFill>
      <a:srgbClr val="F8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6116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DAA520"/>
          </a:solidFill>
          <a:ln w="12700">
            <a:solidFill>
              <a:srgbClr val="DAA520"/>
            </a:solidFill>
            <a:prstDash val="solid"/>
          </a:ln>
        </p:spPr>
        <p:txBody>
          <a:bodyPr/>
          <a:lstStyle/>
          <a:p>
            <a:endParaRPr lang="es-MX"/>
          </a:p>
        </p:txBody>
      </p:sp>
      <p:sp>
        <p:nvSpPr>
          <p:cNvPr id="3" name="Shape 1"/>
          <p:cNvSpPr/>
          <p:nvPr/>
        </p:nvSpPr>
        <p:spPr>
          <a:xfrm>
            <a:off x="201168" y="0"/>
            <a:ext cx="36576" cy="5143500"/>
          </a:xfrm>
          <a:prstGeom prst="rect">
            <a:avLst/>
          </a:prstGeom>
          <a:solidFill>
            <a:srgbClr val="F5C842">
              <a:alpha val="40000"/>
            </a:srgbClr>
          </a:solidFill>
          <a:ln w="12700">
            <a:solidFill>
              <a:srgbClr val="F5C842">
                <a:alpha val="40000"/>
              </a:srgbClr>
            </a:solidFill>
            <a:prstDash val="solid"/>
          </a:ln>
        </p:spPr>
        <p:txBody>
          <a:bodyPr/>
          <a:lstStyle/>
          <a:p>
            <a:endParaRPr lang="es-MX"/>
          </a:p>
        </p:txBody>
      </p:sp>
      <p:sp>
        <p:nvSpPr>
          <p:cNvPr id="4" name="Text 2"/>
          <p:cNvSpPr/>
          <p:nvPr/>
        </p:nvSpPr>
        <p:spPr>
          <a:xfrm>
            <a:off x="502920" y="822960"/>
            <a:ext cx="8321040" cy="10972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Predicción del Precio del Oro</a:t>
            </a:r>
            <a:endParaRPr lang="en-US" sz="3800" dirty="0"/>
          </a:p>
        </p:txBody>
      </p:sp>
      <p:sp>
        <p:nvSpPr>
          <p:cNvPr id="5" name="Text 3"/>
          <p:cNvSpPr/>
          <p:nvPr/>
        </p:nvSpPr>
        <p:spPr>
          <a:xfrm>
            <a:off x="502920" y="1828800"/>
            <a:ext cx="8321040" cy="640080"/>
          </a:xfrm>
          <a:prstGeom prst="rect">
            <a:avLst/>
          </a:prstGeom>
          <a:noFill/>
          <a:ln/>
        </p:spPr>
        <p:txBody>
          <a:bodyPr wrap="square" lIns="0" tIns="0" rIns="0" bIns="0" rtlCol="0" anchor="ctr"/>
          <a:lstStyle/>
          <a:p>
            <a:pPr marL="0" indent="0" algn="l">
              <a:buNone/>
            </a:pPr>
            <a:r>
              <a:rPr lang="en-US" sz="2200" i="1" dirty="0">
                <a:solidFill>
                  <a:srgbClr val="F5C842"/>
                </a:solidFill>
                <a:latin typeface="Calibri" pitchFamily="34" charset="0"/>
                <a:ea typeface="Calibri" pitchFamily="34" charset="-122"/>
                <a:cs typeface="Calibri" pitchFamily="34" charset="-120"/>
              </a:rPr>
              <a:t>mediante Indicadores Macroeconómicos Globales</a:t>
            </a:r>
            <a:endParaRPr lang="en-US" sz="2200" dirty="0"/>
          </a:p>
        </p:txBody>
      </p:sp>
      <p:sp>
        <p:nvSpPr>
          <p:cNvPr id="6" name="Shape 4"/>
          <p:cNvSpPr/>
          <p:nvPr/>
        </p:nvSpPr>
        <p:spPr>
          <a:xfrm>
            <a:off x="502920" y="2606040"/>
            <a:ext cx="5029200" cy="36576"/>
          </a:xfrm>
          <a:prstGeom prst="rect">
            <a:avLst/>
          </a:prstGeom>
          <a:solidFill>
            <a:srgbClr val="DAA520"/>
          </a:solidFill>
          <a:ln w="12700">
            <a:solidFill>
              <a:srgbClr val="DAA520"/>
            </a:solidFill>
            <a:prstDash val="solid"/>
          </a:ln>
        </p:spPr>
        <p:txBody>
          <a:bodyPr/>
          <a:lstStyle/>
          <a:p>
            <a:endParaRPr lang="es-MX"/>
          </a:p>
        </p:txBody>
      </p:sp>
      <p:sp>
        <p:nvSpPr>
          <p:cNvPr id="7" name="Text 5"/>
          <p:cNvSpPr/>
          <p:nvPr/>
        </p:nvSpPr>
        <p:spPr>
          <a:xfrm>
            <a:off x="502920" y="2788920"/>
            <a:ext cx="6400800" cy="822960"/>
          </a:xfrm>
          <a:prstGeom prst="rect">
            <a:avLst/>
          </a:prstGeom>
          <a:noFill/>
          <a:ln/>
        </p:spPr>
        <p:txBody>
          <a:bodyPr wrap="square" lIns="0" tIns="0" rIns="0" bIns="0" rtlCol="0" anchor="ctr"/>
          <a:lstStyle/>
          <a:p>
            <a:pPr marL="0" indent="0" algn="l">
              <a:buNone/>
            </a:pPr>
            <a:r>
              <a:rPr lang="en-US" sz="1400" dirty="0">
                <a:solidFill>
                  <a:srgbClr val="64748B"/>
                </a:solidFill>
                <a:latin typeface="Calibri" pitchFamily="34" charset="0"/>
                <a:ea typeface="Calibri" pitchFamily="34" charset="-122"/>
                <a:cs typeface="Calibri" pitchFamily="34" charset="-120"/>
              </a:rPr>
              <a:t>Jorge Oviedo Magaña  ·  Alan Almaraz</a:t>
            </a:r>
            <a:endParaRPr lang="en-US" sz="1400" dirty="0"/>
          </a:p>
          <a:p>
            <a:pPr marL="0" indent="0" algn="l">
              <a:buNone/>
            </a:pPr>
            <a:r>
              <a:rPr lang="en-US" sz="1400" dirty="0">
                <a:solidFill>
                  <a:srgbClr val="64748B"/>
                </a:solidFill>
                <a:latin typeface="Calibri" pitchFamily="34" charset="0"/>
                <a:ea typeface="Calibri" pitchFamily="34" charset="-122"/>
                <a:cs typeface="Calibri" pitchFamily="34" charset="-120"/>
              </a:rPr>
              <a:t>Aprendizaje Estadístico  ·  Mayo 2026</a:t>
            </a:r>
            <a:endParaRPr lang="en-US" sz="1400" dirty="0"/>
          </a:p>
        </p:txBody>
      </p:sp>
      <p:sp>
        <p:nvSpPr>
          <p:cNvPr id="8" name="Shape 6"/>
          <p:cNvSpPr/>
          <p:nvPr/>
        </p:nvSpPr>
        <p:spPr>
          <a:xfrm>
            <a:off x="502920" y="3977640"/>
            <a:ext cx="3840480" cy="502920"/>
          </a:xfrm>
          <a:prstGeom prst="roundRect">
            <a:avLst>
              <a:gd name="adj" fmla="val 14545"/>
            </a:avLst>
          </a:prstGeom>
          <a:solidFill>
            <a:srgbClr val="1A2E40"/>
          </a:solidFill>
          <a:ln w="12700">
            <a:solidFill>
              <a:srgbClr val="DAA520"/>
            </a:solidFill>
            <a:prstDash val="solid"/>
          </a:ln>
        </p:spPr>
        <p:txBody>
          <a:bodyPr/>
          <a:lstStyle/>
          <a:p>
            <a:endParaRPr lang="es-MX"/>
          </a:p>
        </p:txBody>
      </p:sp>
      <p:sp>
        <p:nvSpPr>
          <p:cNvPr id="9" name="Text 7"/>
          <p:cNvSpPr/>
          <p:nvPr/>
        </p:nvSpPr>
        <p:spPr>
          <a:xfrm>
            <a:off x="502920" y="3977640"/>
            <a:ext cx="3840480" cy="502920"/>
          </a:xfrm>
          <a:prstGeom prst="rect">
            <a:avLst/>
          </a:prstGeom>
          <a:noFill/>
          <a:ln/>
        </p:spPr>
        <p:txBody>
          <a:bodyPr wrap="square" lIns="0" tIns="0" rIns="0" bIns="0" rtlCol="0" anchor="ctr"/>
          <a:lstStyle/>
          <a:p>
            <a:pPr marL="0" indent="0" algn="ctr">
              <a:buNone/>
            </a:pPr>
            <a:r>
              <a:rPr lang="en-US" sz="1100" dirty="0">
                <a:solidFill>
                  <a:srgbClr val="F5C842"/>
                </a:solidFill>
                <a:latin typeface="Calibri" pitchFamily="34" charset="0"/>
                <a:ea typeface="Calibri" pitchFamily="34" charset="-122"/>
                <a:cs typeface="Calibri" pitchFamily="34" charset="-120"/>
              </a:rPr>
              <a:t>🔗  github.com / [usuario] / gold-price-prediction</a:t>
            </a:r>
            <a:endParaRPr lang="en-US" sz="1100" dirty="0"/>
          </a:p>
        </p:txBody>
      </p:sp>
      <p:sp>
        <p:nvSpPr>
          <p:cNvPr id="10" name="Text 8"/>
          <p:cNvSpPr/>
          <p:nvPr/>
        </p:nvSpPr>
        <p:spPr>
          <a:xfrm>
            <a:off x="6858000" y="1097280"/>
            <a:ext cx="2011680" cy="2011680"/>
          </a:xfrm>
          <a:prstGeom prst="rect">
            <a:avLst/>
          </a:prstGeom>
          <a:noFill/>
          <a:ln/>
        </p:spPr>
        <p:txBody>
          <a:bodyPr wrap="square" lIns="0" tIns="0" rIns="0" bIns="0" rtlCol="0" anchor="ctr"/>
          <a:lstStyle/>
          <a:p>
            <a:pPr marL="0" indent="0" algn="ctr">
              <a:buNone/>
            </a:pPr>
            <a:r>
              <a:rPr lang="en-US" sz="9600" dirty="0">
                <a:solidFill>
                  <a:srgbClr val="000000"/>
                </a:solidFill>
              </a:rPr>
              <a:t>🥇</a:t>
            </a:r>
            <a:endParaRPr lang="en-US" sz="9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DAA520"/>
          </a:solidFill>
          <a:ln w="12700">
            <a:solidFill>
              <a:srgbClr val="DAA520"/>
            </a:solidFill>
            <a:prstDash val="solid"/>
          </a:ln>
        </p:spPr>
        <p:txBody>
          <a:bodyPr/>
          <a:lstStyle/>
          <a:p>
            <a:endParaRPr lang="es-MX"/>
          </a:p>
        </p:txBody>
      </p:sp>
      <p:sp>
        <p:nvSpPr>
          <p:cNvPr id="3" name="Text 1"/>
          <p:cNvSpPr/>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E2A38"/>
                </a:solidFill>
                <a:latin typeface="Calibri" pitchFamily="34" charset="0"/>
                <a:ea typeface="Calibri" pitchFamily="34" charset="-122"/>
                <a:cs typeface="Calibri" pitchFamily="34" charset="-120"/>
              </a:rPr>
              <a:t>Objetivo del Proyecto</a:t>
            </a:r>
            <a:endParaRPr lang="en-US" sz="3000" dirty="0"/>
          </a:p>
        </p:txBody>
      </p:sp>
      <p:sp>
        <p:nvSpPr>
          <p:cNvPr id="4" name="Shape 2"/>
          <p:cNvSpPr/>
          <p:nvPr/>
        </p:nvSpPr>
        <p:spPr>
          <a:xfrm>
            <a:off x="457200" y="1097280"/>
            <a:ext cx="8229600" cy="1188720"/>
          </a:xfrm>
          <a:prstGeom prst="rect">
            <a:avLst/>
          </a:prstGeom>
          <a:solidFill>
            <a:srgbClr val="0F1923"/>
          </a:solidFill>
          <a:ln w="12700">
            <a:solidFill>
              <a:srgbClr val="0F1923"/>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457200" y="1097280"/>
            <a:ext cx="164592" cy="1188720"/>
          </a:xfrm>
          <a:prstGeom prst="rect">
            <a:avLst/>
          </a:prstGeom>
          <a:solidFill>
            <a:srgbClr val="DAA520"/>
          </a:solidFill>
          <a:ln w="12700">
            <a:solidFill>
              <a:srgbClr val="DAA520"/>
            </a:solidFill>
            <a:prstDash val="solid"/>
          </a:ln>
        </p:spPr>
        <p:txBody>
          <a:bodyPr/>
          <a:lstStyle/>
          <a:p>
            <a:endParaRPr lang="es-MX"/>
          </a:p>
        </p:txBody>
      </p:sp>
      <p:sp>
        <p:nvSpPr>
          <p:cNvPr id="6" name="Text 4"/>
          <p:cNvSpPr/>
          <p:nvPr/>
        </p:nvSpPr>
        <p:spPr>
          <a:xfrm>
            <a:off x="731520" y="1143000"/>
            <a:ext cx="7772400" cy="109728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¿En qué medida el índice del dólar, el precio del petróleo y la inflación —combinados con el comportamiento reciente del oro— permiten predecir su precio diario?</a:t>
            </a:r>
            <a:endParaRPr lang="en-US" sz="1500" dirty="0"/>
          </a:p>
        </p:txBody>
      </p:sp>
      <p:sp>
        <p:nvSpPr>
          <p:cNvPr id="7" name="Shape 5"/>
          <p:cNvSpPr/>
          <p:nvPr/>
        </p:nvSpPr>
        <p:spPr>
          <a:xfrm>
            <a:off x="457200" y="2514600"/>
            <a:ext cx="2606040" cy="21945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8" name="Text 6"/>
          <p:cNvSpPr/>
          <p:nvPr/>
        </p:nvSpPr>
        <p:spPr>
          <a:xfrm>
            <a:off x="457200" y="2606040"/>
            <a:ext cx="260604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457200" y="3246120"/>
            <a:ext cx="2606040" cy="365760"/>
          </a:xfrm>
          <a:prstGeom prst="rect">
            <a:avLst/>
          </a:prstGeom>
          <a:noFill/>
          <a:ln/>
        </p:spPr>
        <p:txBody>
          <a:bodyPr wrap="square" lIns="0" tIns="0" rIns="0" bIns="0" rtlCol="0" anchor="ctr"/>
          <a:lstStyle/>
          <a:p>
            <a:pPr marL="0" indent="0" algn="ctr">
              <a:buNone/>
            </a:pPr>
            <a:r>
              <a:rPr lang="en-US" sz="1400" b="1" dirty="0">
                <a:solidFill>
                  <a:srgbClr val="1E2A38"/>
                </a:solidFill>
                <a:latin typeface="Calibri" pitchFamily="34" charset="0"/>
                <a:ea typeface="Calibri" pitchFamily="34" charset="-122"/>
                <a:cs typeface="Calibri" pitchFamily="34" charset="-120"/>
              </a:rPr>
              <a:t>Explorar</a:t>
            </a:r>
            <a:endParaRPr lang="en-US" sz="1400" dirty="0"/>
          </a:p>
        </p:txBody>
      </p:sp>
      <p:sp>
        <p:nvSpPr>
          <p:cNvPr id="10" name="Text 8"/>
          <p:cNvSpPr/>
          <p:nvPr/>
        </p:nvSpPr>
        <p:spPr>
          <a:xfrm>
            <a:off x="548640" y="3611880"/>
            <a:ext cx="2423160" cy="100584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Analizar 11 años de datos históricos (2015–2026) del oro y sus indicadores macro</a:t>
            </a:r>
            <a:endParaRPr lang="en-US" sz="1100" dirty="0"/>
          </a:p>
        </p:txBody>
      </p:sp>
      <p:sp>
        <p:nvSpPr>
          <p:cNvPr id="11" name="Shape 9"/>
          <p:cNvSpPr/>
          <p:nvPr/>
        </p:nvSpPr>
        <p:spPr>
          <a:xfrm>
            <a:off x="3291840" y="2514600"/>
            <a:ext cx="2606040" cy="21945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2" name="Text 10"/>
          <p:cNvSpPr/>
          <p:nvPr/>
        </p:nvSpPr>
        <p:spPr>
          <a:xfrm>
            <a:off x="3291840" y="2606040"/>
            <a:ext cx="260604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3291840" y="3246120"/>
            <a:ext cx="2606040" cy="365760"/>
          </a:xfrm>
          <a:prstGeom prst="rect">
            <a:avLst/>
          </a:prstGeom>
          <a:noFill/>
          <a:ln/>
        </p:spPr>
        <p:txBody>
          <a:bodyPr wrap="square" lIns="0" tIns="0" rIns="0" bIns="0" rtlCol="0" anchor="ctr"/>
          <a:lstStyle/>
          <a:p>
            <a:pPr marL="0" indent="0" algn="ctr">
              <a:buNone/>
            </a:pPr>
            <a:r>
              <a:rPr lang="en-US" sz="1400" b="1" dirty="0">
                <a:solidFill>
                  <a:srgbClr val="1E2A38"/>
                </a:solidFill>
                <a:latin typeface="Calibri" pitchFamily="34" charset="0"/>
                <a:ea typeface="Calibri" pitchFamily="34" charset="-122"/>
                <a:cs typeface="Calibri" pitchFamily="34" charset="-120"/>
              </a:rPr>
              <a:t>Modelar</a:t>
            </a:r>
            <a:endParaRPr lang="en-US" sz="1400" dirty="0"/>
          </a:p>
        </p:txBody>
      </p:sp>
      <p:sp>
        <p:nvSpPr>
          <p:cNvPr id="14" name="Text 12"/>
          <p:cNvSpPr/>
          <p:nvPr/>
        </p:nvSpPr>
        <p:spPr>
          <a:xfrm>
            <a:off x="3383280" y="3611880"/>
            <a:ext cx="2423160" cy="100584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Implementar y optimizar Random Forest y XGBoost con validación cruzada temporal</a:t>
            </a:r>
            <a:endParaRPr lang="en-US" sz="1100" dirty="0"/>
          </a:p>
        </p:txBody>
      </p:sp>
      <p:sp>
        <p:nvSpPr>
          <p:cNvPr id="15" name="Shape 13"/>
          <p:cNvSpPr/>
          <p:nvPr/>
        </p:nvSpPr>
        <p:spPr>
          <a:xfrm>
            <a:off x="6126480" y="2514600"/>
            <a:ext cx="2606040" cy="21945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6" name="Text 14"/>
          <p:cNvSpPr/>
          <p:nvPr/>
        </p:nvSpPr>
        <p:spPr>
          <a:xfrm>
            <a:off x="6126480" y="2606040"/>
            <a:ext cx="260604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6126480" y="3246120"/>
            <a:ext cx="2606040" cy="365760"/>
          </a:xfrm>
          <a:prstGeom prst="rect">
            <a:avLst/>
          </a:prstGeom>
          <a:noFill/>
          <a:ln/>
        </p:spPr>
        <p:txBody>
          <a:bodyPr wrap="square" lIns="0" tIns="0" rIns="0" bIns="0" rtlCol="0" anchor="ctr"/>
          <a:lstStyle/>
          <a:p>
            <a:pPr marL="0" indent="0" algn="ctr">
              <a:buNone/>
            </a:pPr>
            <a:r>
              <a:rPr lang="en-US" sz="1400" b="1" dirty="0">
                <a:solidFill>
                  <a:srgbClr val="1E2A38"/>
                </a:solidFill>
                <a:latin typeface="Calibri" pitchFamily="34" charset="0"/>
                <a:ea typeface="Calibri" pitchFamily="34" charset="-122"/>
                <a:cs typeface="Calibri" pitchFamily="34" charset="-120"/>
              </a:rPr>
              <a:t>Comparar</a:t>
            </a:r>
            <a:endParaRPr lang="en-US" sz="1400" dirty="0"/>
          </a:p>
        </p:txBody>
      </p:sp>
      <p:sp>
        <p:nvSpPr>
          <p:cNvPr id="18" name="Text 16"/>
          <p:cNvSpPr/>
          <p:nvPr/>
        </p:nvSpPr>
        <p:spPr>
          <a:xfrm>
            <a:off x="6217920" y="3611880"/>
            <a:ext cx="2423160" cy="100584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Determinar cuál modelo predice mejor el precio del oro usando RMSE como métrico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DAA520"/>
          </a:solidFill>
          <a:ln w="12700">
            <a:solidFill>
              <a:srgbClr val="DAA520"/>
            </a:solidFill>
            <a:prstDash val="solid"/>
          </a:ln>
        </p:spPr>
        <p:txBody>
          <a:bodyPr/>
          <a:lstStyle/>
          <a:p>
            <a:endParaRPr lang="es-MX"/>
          </a:p>
        </p:txBody>
      </p:sp>
      <p:sp>
        <p:nvSpPr>
          <p:cNvPr id="3" name="Text 1"/>
          <p:cNvSpPr/>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E2A38"/>
                </a:solidFill>
                <a:latin typeface="Calibri" pitchFamily="34" charset="0"/>
                <a:ea typeface="Calibri" pitchFamily="34" charset="-122"/>
                <a:cs typeface="Calibri" pitchFamily="34" charset="-120"/>
              </a:rPr>
              <a:t>El Dataset</a:t>
            </a:r>
            <a:endParaRPr lang="en-US" sz="3000" dirty="0"/>
          </a:p>
        </p:txBody>
      </p:sp>
      <p:sp>
        <p:nvSpPr>
          <p:cNvPr id="4" name="Shape 2"/>
          <p:cNvSpPr/>
          <p:nvPr/>
        </p:nvSpPr>
        <p:spPr>
          <a:xfrm>
            <a:off x="457200" y="1005840"/>
            <a:ext cx="5029200" cy="411480"/>
          </a:xfrm>
          <a:prstGeom prst="rect">
            <a:avLst/>
          </a:prstGeom>
          <a:solidFill>
            <a:srgbClr val="1A2E40"/>
          </a:solidFill>
          <a:ln w="12700">
            <a:solidFill>
              <a:srgbClr val="1A2E40"/>
            </a:solidFill>
            <a:prstDash val="solid"/>
          </a:ln>
          <a:effectLst>
            <a:outerShdw blurRad="101600" dist="38100" dir="8100000" algn="bl" rotWithShape="0">
              <a:srgbClr val="000000">
                <a:alpha val="12000"/>
              </a:srgbClr>
            </a:outerShdw>
          </a:effectLst>
        </p:spPr>
        <p:txBody>
          <a:bodyPr/>
          <a:lstStyle/>
          <a:p>
            <a:endParaRPr lang="es-MX"/>
          </a:p>
        </p:txBody>
      </p:sp>
      <p:sp>
        <p:nvSpPr>
          <p:cNvPr id="5" name="Text 3"/>
          <p:cNvSpPr/>
          <p:nvPr/>
        </p:nvSpPr>
        <p:spPr>
          <a:xfrm>
            <a:off x="457200" y="1005840"/>
            <a:ext cx="5029200" cy="411480"/>
          </a:xfrm>
          <a:prstGeom prst="rect">
            <a:avLst/>
          </a:prstGeom>
          <a:noFill/>
          <a:ln/>
        </p:spPr>
        <p:txBody>
          <a:bodyPr wrap="square" lIns="0" tIns="0" rIns="0" bIns="0" rtlCol="0" anchor="ctr"/>
          <a:lstStyle/>
          <a:p>
            <a:pPr marL="0" indent="0" algn="ctr">
              <a:buNone/>
            </a:pPr>
            <a:r>
              <a:rPr lang="en-US" sz="1050" dirty="0">
                <a:solidFill>
                  <a:srgbClr val="F5C842"/>
                </a:solidFill>
                <a:latin typeface="Calibri" pitchFamily="34" charset="0"/>
                <a:ea typeface="Calibri" pitchFamily="34" charset="-122"/>
                <a:cs typeface="Calibri" pitchFamily="34" charset="-120"/>
              </a:rPr>
              <a:t>📦  Kaggle · Gold Price &amp; Global Economic Indicators (2015–2026) · Amina Salamt</a:t>
            </a:r>
            <a:endParaRPr lang="en-US" sz="1050" dirty="0"/>
          </a:p>
        </p:txBody>
      </p:sp>
      <p:sp>
        <p:nvSpPr>
          <p:cNvPr id="6" name="Shape 4"/>
          <p:cNvSpPr/>
          <p:nvPr/>
        </p:nvSpPr>
        <p:spPr>
          <a:xfrm>
            <a:off x="6400800" y="960120"/>
            <a:ext cx="2286000" cy="1005840"/>
          </a:xfrm>
          <a:prstGeom prst="rect">
            <a:avLst/>
          </a:prstGeom>
          <a:solidFill>
            <a:srgbClr val="0F1923"/>
          </a:solidFill>
          <a:ln w="12700">
            <a:solidFill>
              <a:srgbClr val="0F1923"/>
            </a:solidFill>
            <a:prstDash val="solid"/>
          </a:ln>
          <a:effectLst>
            <a:outerShdw blurRad="101600" dist="38100" dir="8100000" algn="bl" rotWithShape="0">
              <a:srgbClr val="000000">
                <a:alpha val="12000"/>
              </a:srgbClr>
            </a:outerShdw>
          </a:effectLst>
        </p:spPr>
        <p:txBody>
          <a:bodyPr/>
          <a:lstStyle/>
          <a:p>
            <a:endParaRPr lang="es-MX"/>
          </a:p>
        </p:txBody>
      </p:sp>
      <p:sp>
        <p:nvSpPr>
          <p:cNvPr id="7" name="Text 5"/>
          <p:cNvSpPr/>
          <p:nvPr/>
        </p:nvSpPr>
        <p:spPr>
          <a:xfrm>
            <a:off x="6400800" y="1005840"/>
            <a:ext cx="2286000" cy="548640"/>
          </a:xfrm>
          <a:prstGeom prst="rect">
            <a:avLst/>
          </a:prstGeom>
          <a:noFill/>
          <a:ln/>
        </p:spPr>
        <p:txBody>
          <a:bodyPr wrap="square" lIns="0" tIns="0" rIns="0" bIns="0" rtlCol="0" anchor="ctr"/>
          <a:lstStyle/>
          <a:p>
            <a:pPr marL="0" indent="0" algn="ctr">
              <a:buNone/>
            </a:pPr>
            <a:r>
              <a:rPr lang="en-US" sz="3200" b="1" dirty="0">
                <a:solidFill>
                  <a:srgbClr val="F5C842"/>
                </a:solidFill>
                <a:latin typeface="Calibri" pitchFamily="34" charset="0"/>
                <a:ea typeface="Calibri" pitchFamily="34" charset="-122"/>
                <a:cs typeface="Calibri" pitchFamily="34" charset="-120"/>
              </a:rPr>
              <a:t>4,137</a:t>
            </a:r>
            <a:endParaRPr lang="en-US" sz="3200" dirty="0"/>
          </a:p>
        </p:txBody>
      </p:sp>
      <p:sp>
        <p:nvSpPr>
          <p:cNvPr id="8" name="Text 6"/>
          <p:cNvSpPr/>
          <p:nvPr/>
        </p:nvSpPr>
        <p:spPr>
          <a:xfrm>
            <a:off x="6400800" y="1554480"/>
            <a:ext cx="228600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registros diarios</a:t>
            </a:r>
            <a:endParaRPr lang="en-US" sz="1100" dirty="0"/>
          </a:p>
        </p:txBody>
      </p:sp>
      <p:sp>
        <p:nvSpPr>
          <p:cNvPr id="9" name="Shape 7"/>
          <p:cNvSpPr/>
          <p:nvPr/>
        </p:nvSpPr>
        <p:spPr>
          <a:xfrm>
            <a:off x="6400800" y="2148840"/>
            <a:ext cx="2286000" cy="1005840"/>
          </a:xfrm>
          <a:prstGeom prst="rect">
            <a:avLst/>
          </a:prstGeom>
          <a:solidFill>
            <a:srgbClr val="0F1923"/>
          </a:solidFill>
          <a:ln w="12700">
            <a:solidFill>
              <a:srgbClr val="0F1923"/>
            </a:solidFill>
            <a:prstDash val="solid"/>
          </a:ln>
          <a:effectLst>
            <a:outerShdw blurRad="101600" dist="38100" dir="8100000" algn="bl" rotWithShape="0">
              <a:srgbClr val="000000">
                <a:alpha val="12000"/>
              </a:srgbClr>
            </a:outerShdw>
          </a:effectLst>
        </p:spPr>
        <p:txBody>
          <a:bodyPr/>
          <a:lstStyle/>
          <a:p>
            <a:endParaRPr lang="es-MX"/>
          </a:p>
        </p:txBody>
      </p:sp>
      <p:sp>
        <p:nvSpPr>
          <p:cNvPr id="10" name="Text 8"/>
          <p:cNvSpPr/>
          <p:nvPr/>
        </p:nvSpPr>
        <p:spPr>
          <a:xfrm>
            <a:off x="6400800" y="2194560"/>
            <a:ext cx="2286000" cy="548640"/>
          </a:xfrm>
          <a:prstGeom prst="rect">
            <a:avLst/>
          </a:prstGeom>
          <a:noFill/>
          <a:ln/>
        </p:spPr>
        <p:txBody>
          <a:bodyPr wrap="square" lIns="0" tIns="0" rIns="0" bIns="0" rtlCol="0" anchor="ctr"/>
          <a:lstStyle/>
          <a:p>
            <a:pPr marL="0" indent="0" algn="ctr">
              <a:buNone/>
            </a:pPr>
            <a:r>
              <a:rPr lang="en-US" sz="3200" b="1" dirty="0">
                <a:solidFill>
                  <a:srgbClr val="F5C842"/>
                </a:solidFill>
                <a:latin typeface="Calibri" pitchFamily="34" charset="0"/>
                <a:ea typeface="Calibri" pitchFamily="34" charset="-122"/>
                <a:cs typeface="Calibri" pitchFamily="34" charset="-120"/>
              </a:rPr>
              <a:t>11</a:t>
            </a:r>
            <a:endParaRPr lang="en-US" sz="3200" dirty="0"/>
          </a:p>
        </p:txBody>
      </p:sp>
      <p:sp>
        <p:nvSpPr>
          <p:cNvPr id="11" name="Text 9"/>
          <p:cNvSpPr/>
          <p:nvPr/>
        </p:nvSpPr>
        <p:spPr>
          <a:xfrm>
            <a:off x="6400800" y="2743200"/>
            <a:ext cx="228600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años de historia</a:t>
            </a:r>
            <a:endParaRPr lang="en-US" sz="1100" dirty="0"/>
          </a:p>
        </p:txBody>
      </p:sp>
      <p:sp>
        <p:nvSpPr>
          <p:cNvPr id="12" name="Shape 10"/>
          <p:cNvSpPr/>
          <p:nvPr/>
        </p:nvSpPr>
        <p:spPr>
          <a:xfrm>
            <a:off x="6400800" y="3337560"/>
            <a:ext cx="2286000" cy="1005840"/>
          </a:xfrm>
          <a:prstGeom prst="rect">
            <a:avLst/>
          </a:prstGeom>
          <a:solidFill>
            <a:srgbClr val="0F1923"/>
          </a:solidFill>
          <a:ln w="12700">
            <a:solidFill>
              <a:srgbClr val="0F1923"/>
            </a:solidFill>
            <a:prstDash val="solid"/>
          </a:ln>
          <a:effectLst>
            <a:outerShdw blurRad="101600" dist="38100" dir="8100000" algn="bl" rotWithShape="0">
              <a:srgbClr val="000000">
                <a:alpha val="12000"/>
              </a:srgbClr>
            </a:outerShdw>
          </a:effectLst>
        </p:spPr>
        <p:txBody>
          <a:bodyPr/>
          <a:lstStyle/>
          <a:p>
            <a:endParaRPr lang="es-MX"/>
          </a:p>
        </p:txBody>
      </p:sp>
      <p:sp>
        <p:nvSpPr>
          <p:cNvPr id="13" name="Text 11"/>
          <p:cNvSpPr/>
          <p:nvPr/>
        </p:nvSpPr>
        <p:spPr>
          <a:xfrm>
            <a:off x="6400800" y="3383280"/>
            <a:ext cx="2286000" cy="548640"/>
          </a:xfrm>
          <a:prstGeom prst="rect">
            <a:avLst/>
          </a:prstGeom>
          <a:noFill/>
          <a:ln/>
        </p:spPr>
        <p:txBody>
          <a:bodyPr wrap="square" lIns="0" tIns="0" rIns="0" bIns="0" rtlCol="0" anchor="ctr"/>
          <a:lstStyle/>
          <a:p>
            <a:pPr marL="0" indent="0" algn="ctr">
              <a:buNone/>
            </a:pPr>
            <a:r>
              <a:rPr lang="en-US" sz="3200" b="1" dirty="0">
                <a:solidFill>
                  <a:srgbClr val="F5C842"/>
                </a:solidFill>
                <a:latin typeface="Calibri" pitchFamily="34" charset="0"/>
                <a:ea typeface="Calibri" pitchFamily="34" charset="-122"/>
                <a:cs typeface="Calibri" pitchFamily="34" charset="-120"/>
              </a:rPr>
              <a:t>0</a:t>
            </a:r>
            <a:endParaRPr lang="en-US" sz="3200" dirty="0"/>
          </a:p>
        </p:txBody>
      </p:sp>
      <p:sp>
        <p:nvSpPr>
          <p:cNvPr id="14" name="Text 12"/>
          <p:cNvSpPr/>
          <p:nvPr/>
        </p:nvSpPr>
        <p:spPr>
          <a:xfrm>
            <a:off x="6400800" y="3931920"/>
            <a:ext cx="228600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valores nulos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669280" cy="2834640"/>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6692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E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Descripción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E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E40"/>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Gold_Price_XAU_USD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Precio del oro (USD/oz)</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Target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US_Dollar_Index_DXY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Índice del dólar frente a divisas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Crude_Oil_Price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Precio del petróleo (USD/bbl)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Inflation_Rate_Pct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Tasa de inflación global (%)</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D9488"/>
          </a:solidFill>
          <a:ln w="12700">
            <a:solidFill>
              <a:srgbClr val="0D9488"/>
            </a:solidFill>
            <a:prstDash val="solid"/>
          </a:ln>
        </p:spPr>
        <p:txBody>
          <a:bodyPr/>
          <a:lstStyle/>
          <a:p>
            <a:endParaRPr lang="es-MX"/>
          </a:p>
        </p:txBody>
      </p:sp>
      <p:sp>
        <p:nvSpPr>
          <p:cNvPr id="3" name="Text 1"/>
          <p:cNvSpPr/>
          <p:nvPr/>
        </p:nvSpPr>
        <p:spPr>
          <a:xfrm>
            <a:off x="457200" y="320040"/>
            <a:ext cx="8229600" cy="594360"/>
          </a:xfrm>
          <a:prstGeom prst="rect">
            <a:avLst/>
          </a:prstGeom>
          <a:noFill/>
          <a:ln/>
        </p:spPr>
        <p:txBody>
          <a:bodyPr wrap="square" lIns="0" tIns="0" rIns="0" bIns="0" rtlCol="0" anchor="ctr"/>
          <a:lstStyle/>
          <a:p>
            <a:pPr marL="0" indent="0">
              <a:buNone/>
            </a:pPr>
            <a:r>
              <a:rPr lang="en-US" sz="3000" b="1" dirty="0">
                <a:solidFill>
                  <a:srgbClr val="1E2A38"/>
                </a:solidFill>
                <a:latin typeface="Calibri" pitchFamily="34" charset="0"/>
                <a:ea typeface="Calibri" pitchFamily="34" charset="-122"/>
                <a:cs typeface="Calibri" pitchFamily="34" charset="-120"/>
              </a:rPr>
              <a:t>Análisis Exploratorio (EDA)</a:t>
            </a:r>
            <a:endParaRPr lang="en-US" sz="3000" dirty="0"/>
          </a:p>
        </p:txBody>
      </p:sp>
      <p:sp>
        <p:nvSpPr>
          <p:cNvPr id="4" name="Shape 2"/>
          <p:cNvSpPr/>
          <p:nvPr/>
        </p:nvSpPr>
        <p:spPr>
          <a:xfrm>
            <a:off x="457200" y="109728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457200" y="1097280"/>
            <a:ext cx="128016" cy="1691640"/>
          </a:xfrm>
          <a:prstGeom prst="rect">
            <a:avLst/>
          </a:prstGeom>
          <a:solidFill>
            <a:srgbClr val="0D9488"/>
          </a:solidFill>
          <a:ln w="12700">
            <a:solidFill>
              <a:srgbClr val="0D9488"/>
            </a:solidFill>
            <a:prstDash val="solid"/>
          </a:ln>
        </p:spPr>
        <p:txBody>
          <a:bodyPr/>
          <a:lstStyle/>
          <a:p>
            <a:endParaRPr lang="es-MX"/>
          </a:p>
        </p:txBody>
      </p:sp>
      <p:sp>
        <p:nvSpPr>
          <p:cNvPr id="6" name="Text 4"/>
          <p:cNvSpPr/>
          <p:nvPr/>
        </p:nvSpPr>
        <p:spPr>
          <a:xfrm>
            <a:off x="685800" y="1188720"/>
            <a:ext cx="3749040" cy="384048"/>
          </a:xfrm>
          <a:prstGeom prst="rect">
            <a:avLst/>
          </a:prstGeom>
          <a:noFill/>
          <a:ln/>
        </p:spPr>
        <p:txBody>
          <a:bodyPr wrap="square" lIns="0" tIns="0" rIns="0" bIns="0"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  Tendencia alcista del oro</a:t>
            </a:r>
            <a:endParaRPr lang="en-US" sz="1300" dirty="0"/>
          </a:p>
        </p:txBody>
      </p:sp>
      <p:sp>
        <p:nvSpPr>
          <p:cNvPr id="7" name="Text 5"/>
          <p:cNvSpPr/>
          <p:nvPr/>
        </p:nvSpPr>
        <p:spPr>
          <a:xfrm>
            <a:off x="685800" y="1572768"/>
            <a:ext cx="3794760" cy="109728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El precio pasó de ~1,100 USD en 2015 a más de 2,600 USD en 2026, con aceleraciones durante COVID-19 (2020) y el ciclo geopolítico 2022–2024.</a:t>
            </a:r>
            <a:endParaRPr lang="en-US" sz="1050" dirty="0"/>
          </a:p>
        </p:txBody>
      </p:sp>
      <p:sp>
        <p:nvSpPr>
          <p:cNvPr id="8" name="Shape 6"/>
          <p:cNvSpPr/>
          <p:nvPr/>
        </p:nvSpPr>
        <p:spPr>
          <a:xfrm>
            <a:off x="4846320" y="109728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9" name="Shape 7"/>
          <p:cNvSpPr/>
          <p:nvPr/>
        </p:nvSpPr>
        <p:spPr>
          <a:xfrm>
            <a:off x="4846320" y="1097280"/>
            <a:ext cx="128016" cy="1691640"/>
          </a:xfrm>
          <a:prstGeom prst="rect">
            <a:avLst/>
          </a:prstGeom>
          <a:solidFill>
            <a:srgbClr val="0D9488"/>
          </a:solidFill>
          <a:ln w="12700">
            <a:solidFill>
              <a:srgbClr val="0D9488"/>
            </a:solidFill>
            <a:prstDash val="solid"/>
          </a:ln>
        </p:spPr>
        <p:txBody>
          <a:bodyPr/>
          <a:lstStyle/>
          <a:p>
            <a:endParaRPr lang="es-MX"/>
          </a:p>
        </p:txBody>
      </p:sp>
      <p:sp>
        <p:nvSpPr>
          <p:cNvPr id="10" name="Text 8"/>
          <p:cNvSpPr/>
          <p:nvPr/>
        </p:nvSpPr>
        <p:spPr>
          <a:xfrm>
            <a:off x="5074920" y="1188720"/>
            <a:ext cx="3749040" cy="384048"/>
          </a:xfrm>
          <a:prstGeom prst="rect">
            <a:avLst/>
          </a:prstGeom>
          <a:noFill/>
          <a:ln/>
        </p:spPr>
        <p:txBody>
          <a:bodyPr wrap="square" lIns="0" tIns="0" rIns="0" bIns="0"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  Relación inversa con el dólar</a:t>
            </a:r>
            <a:endParaRPr lang="en-US" sz="1300" dirty="0"/>
          </a:p>
        </p:txBody>
      </p:sp>
      <p:sp>
        <p:nvSpPr>
          <p:cNvPr id="11" name="Text 9"/>
          <p:cNvSpPr/>
          <p:nvPr/>
        </p:nvSpPr>
        <p:spPr>
          <a:xfrm>
            <a:off x="5074920" y="1572768"/>
            <a:ext cx="3794760" cy="109728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El DXY y el oro muestran correlación negativa consistente con la teoría económica: cuando el dólar se fortalece, el oro tiende a bajar.</a:t>
            </a:r>
            <a:endParaRPr lang="en-US" sz="1050" dirty="0"/>
          </a:p>
        </p:txBody>
      </p:sp>
      <p:sp>
        <p:nvSpPr>
          <p:cNvPr id="12" name="Shape 10"/>
          <p:cNvSpPr/>
          <p:nvPr/>
        </p:nvSpPr>
        <p:spPr>
          <a:xfrm>
            <a:off x="457200" y="297180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3" name="Shape 11"/>
          <p:cNvSpPr/>
          <p:nvPr/>
        </p:nvSpPr>
        <p:spPr>
          <a:xfrm>
            <a:off x="457200" y="2971800"/>
            <a:ext cx="128016" cy="1691640"/>
          </a:xfrm>
          <a:prstGeom prst="rect">
            <a:avLst/>
          </a:prstGeom>
          <a:solidFill>
            <a:srgbClr val="0D9488"/>
          </a:solidFill>
          <a:ln w="12700">
            <a:solidFill>
              <a:srgbClr val="0D9488"/>
            </a:solidFill>
            <a:prstDash val="solid"/>
          </a:ln>
        </p:spPr>
        <p:txBody>
          <a:bodyPr/>
          <a:lstStyle/>
          <a:p>
            <a:endParaRPr lang="es-MX"/>
          </a:p>
        </p:txBody>
      </p:sp>
      <p:sp>
        <p:nvSpPr>
          <p:cNvPr id="14" name="Text 12"/>
          <p:cNvSpPr/>
          <p:nvPr/>
        </p:nvSpPr>
        <p:spPr>
          <a:xfrm>
            <a:off x="685800" y="3063240"/>
            <a:ext cx="3749040" cy="384048"/>
          </a:xfrm>
          <a:prstGeom prst="rect">
            <a:avLst/>
          </a:prstGeom>
          <a:noFill/>
          <a:ln/>
        </p:spPr>
        <p:txBody>
          <a:bodyPr wrap="square" lIns="0" tIns="0" rIns="0" bIns="0"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  Petróleo: evento extremo en 2020</a:t>
            </a:r>
            <a:endParaRPr lang="en-US" sz="1300" dirty="0"/>
          </a:p>
        </p:txBody>
      </p:sp>
      <p:sp>
        <p:nvSpPr>
          <p:cNvPr id="15" name="Text 13"/>
          <p:cNvSpPr/>
          <p:nvPr/>
        </p:nvSpPr>
        <p:spPr>
          <a:xfrm>
            <a:off x="685800" y="3447288"/>
            <a:ext cx="3794760" cy="109728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El petróleo colapsó a valores negativos en futuros WTI (abril 2020), el evento atípico más pronunciado de la serie.</a:t>
            </a:r>
            <a:endParaRPr lang="en-US" sz="1050" dirty="0"/>
          </a:p>
        </p:txBody>
      </p:sp>
      <p:sp>
        <p:nvSpPr>
          <p:cNvPr id="16" name="Shape 14"/>
          <p:cNvSpPr/>
          <p:nvPr/>
        </p:nvSpPr>
        <p:spPr>
          <a:xfrm>
            <a:off x="4846320" y="297180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7" name="Shape 15"/>
          <p:cNvSpPr/>
          <p:nvPr/>
        </p:nvSpPr>
        <p:spPr>
          <a:xfrm>
            <a:off x="4846320" y="2971800"/>
            <a:ext cx="128016" cy="1691640"/>
          </a:xfrm>
          <a:prstGeom prst="rect">
            <a:avLst/>
          </a:prstGeom>
          <a:solidFill>
            <a:srgbClr val="0D9488"/>
          </a:solidFill>
          <a:ln w="12700">
            <a:solidFill>
              <a:srgbClr val="0D9488"/>
            </a:solidFill>
            <a:prstDash val="solid"/>
          </a:ln>
        </p:spPr>
        <p:txBody>
          <a:bodyPr/>
          <a:lstStyle/>
          <a:p>
            <a:endParaRPr lang="es-MX"/>
          </a:p>
        </p:txBody>
      </p:sp>
      <p:sp>
        <p:nvSpPr>
          <p:cNvPr id="18" name="Text 16"/>
          <p:cNvSpPr/>
          <p:nvPr/>
        </p:nvSpPr>
        <p:spPr>
          <a:xfrm>
            <a:off x="5074920" y="3063240"/>
            <a:ext cx="3749040" cy="384048"/>
          </a:xfrm>
          <a:prstGeom prst="rect">
            <a:avLst/>
          </a:prstGeom>
          <a:noFill/>
          <a:ln/>
        </p:spPr>
        <p:txBody>
          <a:bodyPr wrap="square" lIns="0" tIns="0" rIns="0" bIns="0"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  Inflación: pico y descenso</a:t>
            </a:r>
            <a:endParaRPr lang="en-US" sz="1300" dirty="0"/>
          </a:p>
        </p:txBody>
      </p:sp>
      <p:sp>
        <p:nvSpPr>
          <p:cNvPr id="19" name="Text 17"/>
          <p:cNvSpPr/>
          <p:nvPr/>
        </p:nvSpPr>
        <p:spPr>
          <a:xfrm>
            <a:off x="5074920" y="3447288"/>
            <a:ext cx="3794760" cy="109728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Baja y estable hasta 2020, pico pronunciado en 2021–2022, y descenso posterior consistente con el ciclo de alzas de la Fed.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DAA520"/>
          </a:solidFill>
          <a:ln w="12700">
            <a:solidFill>
              <a:srgbClr val="DAA520"/>
            </a:solidFill>
            <a:prstDash val="solid"/>
          </a:ln>
        </p:spPr>
        <p:txBody>
          <a:bodyPr/>
          <a:lstStyle/>
          <a:p>
            <a:endParaRPr lang="es-MX"/>
          </a:p>
        </p:txBody>
      </p:sp>
      <p:sp>
        <p:nvSpPr>
          <p:cNvPr id="3" name="Text 1"/>
          <p:cNvSpPr/>
          <p:nvPr/>
        </p:nvSpPr>
        <p:spPr>
          <a:xfrm>
            <a:off x="457200" y="320040"/>
            <a:ext cx="8229600" cy="594360"/>
          </a:xfrm>
          <a:prstGeom prst="rect">
            <a:avLst/>
          </a:prstGeom>
          <a:noFill/>
          <a:ln/>
        </p:spPr>
        <p:txBody>
          <a:bodyPr wrap="square" lIns="0" tIns="0" rIns="0" bIns="0" rtlCol="0" anchor="ctr"/>
          <a:lstStyle/>
          <a:p>
            <a:pPr marL="0" indent="0">
              <a:buNone/>
            </a:pPr>
            <a:r>
              <a:rPr lang="en-US" sz="2800" b="1" dirty="0">
                <a:solidFill>
                  <a:srgbClr val="1E2A38"/>
                </a:solidFill>
                <a:latin typeface="Calibri" pitchFamily="34" charset="0"/>
                <a:ea typeface="Calibri" pitchFamily="34" charset="-122"/>
                <a:cs typeface="Calibri" pitchFamily="34" charset="-120"/>
              </a:rPr>
              <a:t>Ingeniería de Características Temporales</a:t>
            </a:r>
            <a:endParaRPr lang="en-US" sz="2800" dirty="0"/>
          </a:p>
        </p:txBody>
      </p:sp>
      <p:sp>
        <p:nvSpPr>
          <p:cNvPr id="4" name="Shape 2"/>
          <p:cNvSpPr/>
          <p:nvPr/>
        </p:nvSpPr>
        <p:spPr>
          <a:xfrm>
            <a:off x="457200" y="1005840"/>
            <a:ext cx="8229600" cy="822960"/>
          </a:xfrm>
          <a:prstGeom prst="rect">
            <a:avLst/>
          </a:prstGeom>
          <a:solidFill>
            <a:srgbClr val="1A2E40"/>
          </a:solidFill>
          <a:ln w="12700">
            <a:solidFill>
              <a:srgbClr val="1A2E40"/>
            </a:solidFill>
            <a:prstDash val="solid"/>
          </a:ln>
          <a:effectLst>
            <a:outerShdw blurRad="101600" dist="38100" dir="8100000" algn="bl" rotWithShape="0">
              <a:srgbClr val="000000">
                <a:alpha val="12000"/>
              </a:srgbClr>
            </a:outerShdw>
          </a:effectLst>
        </p:spPr>
        <p:txBody>
          <a:bodyPr/>
          <a:lstStyle/>
          <a:p>
            <a:endParaRPr lang="es-MX"/>
          </a:p>
        </p:txBody>
      </p:sp>
      <p:sp>
        <p:nvSpPr>
          <p:cNvPr id="5" name="Text 3"/>
          <p:cNvSpPr/>
          <p:nvPr/>
        </p:nvSpPr>
        <p:spPr>
          <a:xfrm>
            <a:off x="640080" y="1024128"/>
            <a:ext cx="7863840" cy="7863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¿Por qué?  Las variables originales no capturan la persistencia temporal del precio del oro. Se construyen features derivadas usando sólo información disponible en el momento de predecir (día anterior), evitando data leakage.</a:t>
            </a:r>
            <a:endParaRPr lang="en-US" sz="1200" dirty="0"/>
          </a:p>
        </p:txBody>
      </p:sp>
      <p:sp>
        <p:nvSpPr>
          <p:cNvPr id="6" name="Shape 4"/>
          <p:cNvSpPr/>
          <p:nvPr/>
        </p:nvSpPr>
        <p:spPr>
          <a:xfrm>
            <a:off x="457200" y="2011680"/>
            <a:ext cx="2606040" cy="411480"/>
          </a:xfrm>
          <a:prstGeom prst="rect">
            <a:avLst/>
          </a:prstGeom>
          <a:solidFill>
            <a:srgbClr val="DAA520"/>
          </a:solidFill>
          <a:ln w="12700">
            <a:solidFill>
              <a:srgbClr val="DAA520"/>
            </a:solidFill>
            <a:prstDash val="solid"/>
          </a:ln>
        </p:spPr>
        <p:txBody>
          <a:bodyPr/>
          <a:lstStyle/>
          <a:p>
            <a:endParaRPr lang="es-MX"/>
          </a:p>
        </p:txBody>
      </p:sp>
      <p:sp>
        <p:nvSpPr>
          <p:cNvPr id="7" name="Text 5"/>
          <p:cNvSpPr/>
          <p:nvPr/>
        </p:nvSpPr>
        <p:spPr>
          <a:xfrm>
            <a:off x="457200" y="201168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Rezagos del Oro</a:t>
            </a:r>
            <a:endParaRPr lang="en-US" sz="1200" dirty="0"/>
          </a:p>
        </p:txBody>
      </p:sp>
      <p:sp>
        <p:nvSpPr>
          <p:cNvPr id="8" name="Shape 6"/>
          <p:cNvSpPr/>
          <p:nvPr/>
        </p:nvSpPr>
        <p:spPr>
          <a:xfrm>
            <a:off x="457200" y="2423160"/>
            <a:ext cx="2606040" cy="2103120"/>
          </a:xfrm>
          <a:prstGeom prst="rect">
            <a:avLst/>
          </a:prstGeom>
          <a:solidFill>
            <a:srgbClr val="FFFFFF"/>
          </a:solidFill>
          <a:ln w="12700">
            <a:solidFill>
              <a:srgbClr val="E2E8F0"/>
            </a:solidFill>
            <a:prstDash val="solid"/>
          </a:ln>
        </p:spPr>
        <p:txBody>
          <a:bodyPr/>
          <a:lstStyle/>
          <a:p>
            <a:endParaRPr lang="es-MX"/>
          </a:p>
        </p:txBody>
      </p:sp>
      <p:sp>
        <p:nvSpPr>
          <p:cNvPr id="9" name="Text 7"/>
          <p:cNvSpPr/>
          <p:nvPr/>
        </p:nvSpPr>
        <p:spPr>
          <a:xfrm>
            <a:off x="594360" y="2514600"/>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Gold_lag_1  (t−1)</a:t>
            </a:r>
            <a:endParaRPr lang="en-US" sz="1100" dirty="0"/>
          </a:p>
        </p:txBody>
      </p:sp>
      <p:sp>
        <p:nvSpPr>
          <p:cNvPr id="10" name="Text 8"/>
          <p:cNvSpPr/>
          <p:nvPr/>
        </p:nvSpPr>
        <p:spPr>
          <a:xfrm>
            <a:off x="594360" y="2898648"/>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Gold_lag_2  (t−2)</a:t>
            </a:r>
            <a:endParaRPr lang="en-US" sz="1100" dirty="0"/>
          </a:p>
        </p:txBody>
      </p:sp>
      <p:sp>
        <p:nvSpPr>
          <p:cNvPr id="11" name="Text 9"/>
          <p:cNvSpPr/>
          <p:nvPr/>
        </p:nvSpPr>
        <p:spPr>
          <a:xfrm>
            <a:off x="594360" y="3282696"/>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Gold_lag_3  (t−3)</a:t>
            </a:r>
            <a:endParaRPr lang="en-US" sz="1100" dirty="0"/>
          </a:p>
        </p:txBody>
      </p:sp>
      <p:sp>
        <p:nvSpPr>
          <p:cNvPr id="12" name="Text 10"/>
          <p:cNvSpPr/>
          <p:nvPr/>
        </p:nvSpPr>
        <p:spPr>
          <a:xfrm>
            <a:off x="594360" y="3666744"/>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Gold_lag_5  (t−5)</a:t>
            </a:r>
            <a:endParaRPr lang="en-US" sz="1100" dirty="0"/>
          </a:p>
        </p:txBody>
      </p:sp>
      <p:sp>
        <p:nvSpPr>
          <p:cNvPr id="13" name="Text 11"/>
          <p:cNvSpPr/>
          <p:nvPr/>
        </p:nvSpPr>
        <p:spPr>
          <a:xfrm>
            <a:off x="594360" y="4050792"/>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Gold_lag_10 (t−10)</a:t>
            </a:r>
            <a:endParaRPr lang="en-US" sz="1100" dirty="0"/>
          </a:p>
        </p:txBody>
      </p:sp>
      <p:sp>
        <p:nvSpPr>
          <p:cNvPr id="14" name="Shape 12"/>
          <p:cNvSpPr/>
          <p:nvPr/>
        </p:nvSpPr>
        <p:spPr>
          <a:xfrm>
            <a:off x="3291840" y="2011680"/>
            <a:ext cx="2606040" cy="411480"/>
          </a:xfrm>
          <a:prstGeom prst="rect">
            <a:avLst/>
          </a:prstGeom>
          <a:solidFill>
            <a:srgbClr val="0D9488"/>
          </a:solidFill>
          <a:ln w="12700">
            <a:solidFill>
              <a:srgbClr val="0D9488"/>
            </a:solidFill>
            <a:prstDash val="solid"/>
          </a:ln>
        </p:spPr>
        <p:txBody>
          <a:bodyPr/>
          <a:lstStyle/>
          <a:p>
            <a:endParaRPr lang="es-MX"/>
          </a:p>
        </p:txBody>
      </p:sp>
      <p:sp>
        <p:nvSpPr>
          <p:cNvPr id="15" name="Text 13"/>
          <p:cNvSpPr/>
          <p:nvPr/>
        </p:nvSpPr>
        <p:spPr>
          <a:xfrm>
            <a:off x="3291840" y="201168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Medias Móviles</a:t>
            </a:r>
            <a:endParaRPr lang="en-US" sz="1200" dirty="0"/>
          </a:p>
        </p:txBody>
      </p:sp>
      <p:sp>
        <p:nvSpPr>
          <p:cNvPr id="16" name="Shape 14"/>
          <p:cNvSpPr/>
          <p:nvPr/>
        </p:nvSpPr>
        <p:spPr>
          <a:xfrm>
            <a:off x="3291840" y="2423160"/>
            <a:ext cx="2606040" cy="1335024"/>
          </a:xfrm>
          <a:prstGeom prst="rect">
            <a:avLst/>
          </a:prstGeom>
          <a:solidFill>
            <a:srgbClr val="FFFFFF"/>
          </a:solidFill>
          <a:ln w="12700">
            <a:solidFill>
              <a:srgbClr val="E2E8F0"/>
            </a:solidFill>
            <a:prstDash val="solid"/>
          </a:ln>
        </p:spPr>
        <p:txBody>
          <a:bodyPr/>
          <a:lstStyle/>
          <a:p>
            <a:endParaRPr lang="es-MX"/>
          </a:p>
        </p:txBody>
      </p:sp>
      <p:sp>
        <p:nvSpPr>
          <p:cNvPr id="17" name="Text 15"/>
          <p:cNvSpPr/>
          <p:nvPr/>
        </p:nvSpPr>
        <p:spPr>
          <a:xfrm>
            <a:off x="3429000" y="2514600"/>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Gold_ma_5   (5 días)</a:t>
            </a:r>
            <a:endParaRPr lang="en-US" sz="1100" dirty="0"/>
          </a:p>
        </p:txBody>
      </p:sp>
      <p:sp>
        <p:nvSpPr>
          <p:cNvPr id="18" name="Text 16"/>
          <p:cNvSpPr/>
          <p:nvPr/>
        </p:nvSpPr>
        <p:spPr>
          <a:xfrm>
            <a:off x="3429000" y="2898648"/>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Gold_ma_10 (10 días)</a:t>
            </a:r>
            <a:endParaRPr lang="en-US" sz="1100" dirty="0"/>
          </a:p>
        </p:txBody>
      </p:sp>
      <p:sp>
        <p:nvSpPr>
          <p:cNvPr id="19" name="Text 17"/>
          <p:cNvSpPr/>
          <p:nvPr/>
        </p:nvSpPr>
        <p:spPr>
          <a:xfrm>
            <a:off x="3429000" y="3282696"/>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Gold_ma_20 (20 días)</a:t>
            </a:r>
            <a:endParaRPr lang="en-US" sz="1100" dirty="0"/>
          </a:p>
        </p:txBody>
      </p:sp>
      <p:sp>
        <p:nvSpPr>
          <p:cNvPr id="20" name="Shape 18"/>
          <p:cNvSpPr/>
          <p:nvPr/>
        </p:nvSpPr>
        <p:spPr>
          <a:xfrm>
            <a:off x="6126480" y="2011680"/>
            <a:ext cx="2606040" cy="411480"/>
          </a:xfrm>
          <a:prstGeom prst="rect">
            <a:avLst/>
          </a:prstGeom>
          <a:solidFill>
            <a:srgbClr val="6366F1"/>
          </a:solidFill>
          <a:ln w="12700">
            <a:solidFill>
              <a:srgbClr val="6366F1"/>
            </a:solidFill>
            <a:prstDash val="solid"/>
          </a:ln>
        </p:spPr>
        <p:txBody>
          <a:bodyPr/>
          <a:lstStyle/>
          <a:p>
            <a:endParaRPr lang="es-MX"/>
          </a:p>
        </p:txBody>
      </p:sp>
      <p:sp>
        <p:nvSpPr>
          <p:cNvPr id="21" name="Text 19"/>
          <p:cNvSpPr/>
          <p:nvPr/>
        </p:nvSpPr>
        <p:spPr>
          <a:xfrm>
            <a:off x="6126480" y="201168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Indicadores (lag 1)</a:t>
            </a:r>
            <a:endParaRPr lang="en-US" sz="1200" dirty="0"/>
          </a:p>
        </p:txBody>
      </p:sp>
      <p:sp>
        <p:nvSpPr>
          <p:cNvPr id="22" name="Shape 20"/>
          <p:cNvSpPr/>
          <p:nvPr/>
        </p:nvSpPr>
        <p:spPr>
          <a:xfrm>
            <a:off x="6126480" y="2423160"/>
            <a:ext cx="2606040" cy="1335024"/>
          </a:xfrm>
          <a:prstGeom prst="rect">
            <a:avLst/>
          </a:prstGeom>
          <a:solidFill>
            <a:srgbClr val="FFFFFF"/>
          </a:solidFill>
          <a:ln w="12700">
            <a:solidFill>
              <a:srgbClr val="E2E8F0"/>
            </a:solidFill>
            <a:prstDash val="solid"/>
          </a:ln>
        </p:spPr>
        <p:txBody>
          <a:bodyPr/>
          <a:lstStyle/>
          <a:p>
            <a:endParaRPr lang="es-MX"/>
          </a:p>
        </p:txBody>
      </p:sp>
      <p:sp>
        <p:nvSpPr>
          <p:cNvPr id="23" name="Text 21"/>
          <p:cNvSpPr/>
          <p:nvPr/>
        </p:nvSpPr>
        <p:spPr>
          <a:xfrm>
            <a:off x="6263640" y="2514600"/>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DXY_lag1</a:t>
            </a:r>
            <a:endParaRPr lang="en-US" sz="1100" dirty="0"/>
          </a:p>
        </p:txBody>
      </p:sp>
      <p:sp>
        <p:nvSpPr>
          <p:cNvPr id="24" name="Text 22"/>
          <p:cNvSpPr/>
          <p:nvPr/>
        </p:nvSpPr>
        <p:spPr>
          <a:xfrm>
            <a:off x="6263640" y="2898648"/>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Crude_Oil_lag1</a:t>
            </a:r>
            <a:endParaRPr lang="en-US" sz="1100" dirty="0"/>
          </a:p>
        </p:txBody>
      </p:sp>
      <p:sp>
        <p:nvSpPr>
          <p:cNvPr id="25" name="Text 23"/>
          <p:cNvSpPr/>
          <p:nvPr/>
        </p:nvSpPr>
        <p:spPr>
          <a:xfrm>
            <a:off x="6263640" y="3282696"/>
            <a:ext cx="2331720" cy="347472"/>
          </a:xfrm>
          <a:prstGeom prst="rect">
            <a:avLst/>
          </a:prstGeom>
          <a:noFill/>
          <a:ln/>
        </p:spPr>
        <p:txBody>
          <a:bodyPr wrap="square" lIns="0" tIns="0" rIns="0" bIns="0" rtlCol="0" anchor="ctr"/>
          <a:lstStyle/>
          <a:p>
            <a:pPr marL="0" indent="0">
              <a:buNone/>
            </a:pPr>
            <a:r>
              <a:rPr lang="en-US" sz="1100" dirty="0">
                <a:solidFill>
                  <a:srgbClr val="1E2A38"/>
                </a:solidFill>
                <a:latin typeface="Calibri" pitchFamily="34" charset="0"/>
                <a:ea typeface="Calibri" pitchFamily="34" charset="-122"/>
                <a:cs typeface="Calibri" pitchFamily="34" charset="-120"/>
              </a:rPr>
              <a:t>→  Inflation_lag1</a:t>
            </a:r>
            <a:endParaRPr lang="en-US" sz="1100" dirty="0"/>
          </a:p>
        </p:txBody>
      </p:sp>
      <p:sp>
        <p:nvSpPr>
          <p:cNvPr id="26" name="Shape 24"/>
          <p:cNvSpPr/>
          <p:nvPr/>
        </p:nvSpPr>
        <p:spPr>
          <a:xfrm>
            <a:off x="457200" y="4434840"/>
            <a:ext cx="8229600" cy="502920"/>
          </a:xfrm>
          <a:prstGeom prst="rect">
            <a:avLst/>
          </a:prstGeom>
          <a:solidFill>
            <a:srgbClr val="0F1923"/>
          </a:solidFill>
          <a:ln w="12700">
            <a:solidFill>
              <a:srgbClr val="0F1923"/>
            </a:solidFill>
            <a:prstDash val="solid"/>
          </a:ln>
        </p:spPr>
        <p:txBody>
          <a:bodyPr/>
          <a:lstStyle/>
          <a:p>
            <a:endParaRPr lang="es-MX"/>
          </a:p>
        </p:txBody>
      </p:sp>
      <p:sp>
        <p:nvSpPr>
          <p:cNvPr id="27" name="Text 25"/>
          <p:cNvSpPr/>
          <p:nvPr/>
        </p:nvSpPr>
        <p:spPr>
          <a:xfrm>
            <a:off x="457200" y="4434840"/>
            <a:ext cx="8229600" cy="502920"/>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Resultado: 14 predictores  ·  4,107 observaciones efectivas (los primeros 30 días se eliminan por NaN)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D9488"/>
          </a:solidFill>
          <a:ln w="12700">
            <a:solidFill>
              <a:srgbClr val="0D9488"/>
            </a:solidFill>
            <a:prstDash val="solid"/>
          </a:ln>
        </p:spPr>
        <p:txBody>
          <a:bodyPr/>
          <a:lstStyle/>
          <a:p>
            <a:endParaRPr lang="es-MX"/>
          </a:p>
        </p:txBody>
      </p:sp>
      <p:sp>
        <p:nvSpPr>
          <p:cNvPr id="3" name="Text 1"/>
          <p:cNvSpPr/>
          <p:nvPr/>
        </p:nvSpPr>
        <p:spPr>
          <a:xfrm>
            <a:off x="457200" y="320040"/>
            <a:ext cx="8229600" cy="594360"/>
          </a:xfrm>
          <a:prstGeom prst="rect">
            <a:avLst/>
          </a:prstGeom>
          <a:noFill/>
          <a:ln/>
        </p:spPr>
        <p:txBody>
          <a:bodyPr wrap="square" lIns="0" tIns="0" rIns="0" bIns="0" rtlCol="0" anchor="ctr"/>
          <a:lstStyle/>
          <a:p>
            <a:pPr marL="0" indent="0">
              <a:buNone/>
            </a:pPr>
            <a:r>
              <a:rPr lang="en-US" sz="3000" b="1" dirty="0">
                <a:solidFill>
                  <a:srgbClr val="1E2A38"/>
                </a:solidFill>
                <a:latin typeface="Calibri" pitchFamily="34" charset="0"/>
                <a:ea typeface="Calibri" pitchFamily="34" charset="-122"/>
                <a:cs typeface="Calibri" pitchFamily="34" charset="-120"/>
              </a:rPr>
              <a:t>Metodología</a:t>
            </a:r>
            <a:endParaRPr lang="en-US" sz="3000" dirty="0"/>
          </a:p>
        </p:txBody>
      </p:sp>
      <p:sp>
        <p:nvSpPr>
          <p:cNvPr id="4" name="Shape 2"/>
          <p:cNvSpPr/>
          <p:nvPr/>
        </p:nvSpPr>
        <p:spPr>
          <a:xfrm>
            <a:off x="960120" y="1051560"/>
            <a:ext cx="822960" cy="822960"/>
          </a:xfrm>
          <a:prstGeom prst="ellipse">
            <a:avLst/>
          </a:prstGeom>
          <a:solidFill>
            <a:srgbClr val="0D9488"/>
          </a:solidFill>
          <a:ln w="12700">
            <a:solidFill>
              <a:srgbClr val="0D9488"/>
            </a:solidFill>
            <a:prstDash val="solid"/>
          </a:ln>
        </p:spPr>
        <p:txBody>
          <a:bodyPr/>
          <a:lstStyle/>
          <a:p>
            <a:endParaRPr lang="es-MX"/>
          </a:p>
        </p:txBody>
      </p:sp>
      <p:sp>
        <p:nvSpPr>
          <p:cNvPr id="5" name="Text 3"/>
          <p:cNvSpPr/>
          <p:nvPr/>
        </p:nvSpPr>
        <p:spPr>
          <a:xfrm>
            <a:off x="960120" y="105156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6" name="Shape 4"/>
          <p:cNvSpPr/>
          <p:nvPr/>
        </p:nvSpPr>
        <p:spPr>
          <a:xfrm>
            <a:off x="365760" y="2057400"/>
            <a:ext cx="1920240" cy="1097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7" name="Text 5"/>
          <p:cNvSpPr/>
          <p:nvPr/>
        </p:nvSpPr>
        <p:spPr>
          <a:xfrm>
            <a:off x="365760" y="2130552"/>
            <a:ext cx="1920240" cy="411480"/>
          </a:xfrm>
          <a:prstGeom prst="rect">
            <a:avLst/>
          </a:prstGeom>
          <a:noFill/>
          <a:ln/>
        </p:spPr>
        <p:txBody>
          <a:bodyPr wrap="square" lIns="0" tIns="0" rIns="0" bIns="0" rtlCol="0" anchor="ctr"/>
          <a:lstStyle/>
          <a:p>
            <a:pPr marL="0" indent="0" algn="ctr">
              <a:buNone/>
            </a:pPr>
            <a:r>
              <a:rPr lang="en-US" sz="1200" b="1" dirty="0">
                <a:solidFill>
                  <a:srgbClr val="1E2A38"/>
                </a:solidFill>
                <a:latin typeface="Calibri" pitchFamily="34" charset="0"/>
                <a:ea typeface="Calibri" pitchFamily="34" charset="-122"/>
                <a:cs typeface="Calibri" pitchFamily="34" charset="-120"/>
              </a:rPr>
              <a:t>StandardScaler</a:t>
            </a:r>
            <a:endParaRPr lang="en-US" sz="1200" dirty="0"/>
          </a:p>
        </p:txBody>
      </p:sp>
      <p:sp>
        <p:nvSpPr>
          <p:cNvPr id="8" name="Text 6"/>
          <p:cNvSpPr/>
          <p:nvPr/>
        </p:nvSpPr>
        <p:spPr>
          <a:xfrm>
            <a:off x="457200" y="2514600"/>
            <a:ext cx="1737360" cy="5486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Normalización dentro del pipeline</a:t>
            </a:r>
            <a:endParaRPr lang="en-US" sz="1000" dirty="0"/>
          </a:p>
        </p:txBody>
      </p:sp>
      <p:sp>
        <p:nvSpPr>
          <p:cNvPr id="9" name="Shape 7"/>
          <p:cNvSpPr/>
          <p:nvPr/>
        </p:nvSpPr>
        <p:spPr>
          <a:xfrm>
            <a:off x="2331720" y="2542032"/>
            <a:ext cx="201168" cy="73152"/>
          </a:xfrm>
          <a:prstGeom prst="rect">
            <a:avLst/>
          </a:prstGeom>
          <a:solidFill>
            <a:srgbClr val="64748B"/>
          </a:solidFill>
          <a:ln w="12700">
            <a:solidFill>
              <a:srgbClr val="64748B"/>
            </a:solidFill>
            <a:prstDash val="solid"/>
          </a:ln>
        </p:spPr>
        <p:txBody>
          <a:bodyPr/>
          <a:lstStyle/>
          <a:p>
            <a:endParaRPr lang="es-MX"/>
          </a:p>
        </p:txBody>
      </p:sp>
      <p:sp>
        <p:nvSpPr>
          <p:cNvPr id="10" name="Shape 8"/>
          <p:cNvSpPr/>
          <p:nvPr/>
        </p:nvSpPr>
        <p:spPr>
          <a:xfrm>
            <a:off x="3063240" y="1051560"/>
            <a:ext cx="822960" cy="822960"/>
          </a:xfrm>
          <a:prstGeom prst="ellipse">
            <a:avLst/>
          </a:prstGeom>
          <a:solidFill>
            <a:srgbClr val="0D9488"/>
          </a:solidFill>
          <a:ln w="12700">
            <a:solidFill>
              <a:srgbClr val="0D9488"/>
            </a:solidFill>
            <a:prstDash val="solid"/>
          </a:ln>
        </p:spPr>
        <p:txBody>
          <a:bodyPr/>
          <a:lstStyle/>
          <a:p>
            <a:endParaRPr lang="es-MX"/>
          </a:p>
        </p:txBody>
      </p:sp>
      <p:sp>
        <p:nvSpPr>
          <p:cNvPr id="11" name="Text 9"/>
          <p:cNvSpPr/>
          <p:nvPr/>
        </p:nvSpPr>
        <p:spPr>
          <a:xfrm>
            <a:off x="3063240" y="105156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2" name="Shape 10"/>
          <p:cNvSpPr/>
          <p:nvPr/>
        </p:nvSpPr>
        <p:spPr>
          <a:xfrm>
            <a:off x="2468880" y="2057400"/>
            <a:ext cx="1920240" cy="1097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3" name="Text 11"/>
          <p:cNvSpPr/>
          <p:nvPr/>
        </p:nvSpPr>
        <p:spPr>
          <a:xfrm>
            <a:off x="2468880" y="2130552"/>
            <a:ext cx="1920240" cy="411480"/>
          </a:xfrm>
          <a:prstGeom prst="rect">
            <a:avLst/>
          </a:prstGeom>
          <a:noFill/>
          <a:ln/>
        </p:spPr>
        <p:txBody>
          <a:bodyPr wrap="square" lIns="0" tIns="0" rIns="0" bIns="0" rtlCol="0" anchor="ctr"/>
          <a:lstStyle/>
          <a:p>
            <a:pPr marL="0" indent="0" algn="ctr">
              <a:buNone/>
            </a:pPr>
            <a:r>
              <a:rPr lang="en-US" sz="1200" b="1" dirty="0">
                <a:solidFill>
                  <a:srgbClr val="1E2A38"/>
                </a:solidFill>
                <a:latin typeface="Calibri" pitchFamily="34" charset="0"/>
                <a:ea typeface="Calibri" pitchFamily="34" charset="-122"/>
                <a:cs typeface="Calibri" pitchFamily="34" charset="-120"/>
              </a:rPr>
              <a:t>RandomizedSearchCV</a:t>
            </a:r>
            <a:endParaRPr lang="en-US" sz="1200" dirty="0"/>
          </a:p>
        </p:txBody>
      </p:sp>
      <p:sp>
        <p:nvSpPr>
          <p:cNvPr id="14" name="Text 12"/>
          <p:cNvSpPr/>
          <p:nvPr/>
        </p:nvSpPr>
        <p:spPr>
          <a:xfrm>
            <a:off x="2560320" y="2514600"/>
            <a:ext cx="1737360" cy="5486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15 iter · TimeSeriesSplit k=5</a:t>
            </a:r>
            <a:endParaRPr lang="en-US" sz="1000" dirty="0"/>
          </a:p>
        </p:txBody>
      </p:sp>
      <p:sp>
        <p:nvSpPr>
          <p:cNvPr id="15" name="Shape 13"/>
          <p:cNvSpPr/>
          <p:nvPr/>
        </p:nvSpPr>
        <p:spPr>
          <a:xfrm>
            <a:off x="4434840" y="2542032"/>
            <a:ext cx="201168" cy="73152"/>
          </a:xfrm>
          <a:prstGeom prst="rect">
            <a:avLst/>
          </a:prstGeom>
          <a:solidFill>
            <a:srgbClr val="64748B"/>
          </a:solidFill>
          <a:ln w="12700">
            <a:solidFill>
              <a:srgbClr val="64748B"/>
            </a:solidFill>
            <a:prstDash val="solid"/>
          </a:ln>
        </p:spPr>
        <p:txBody>
          <a:bodyPr/>
          <a:lstStyle/>
          <a:p>
            <a:endParaRPr lang="es-MX"/>
          </a:p>
        </p:txBody>
      </p:sp>
      <p:sp>
        <p:nvSpPr>
          <p:cNvPr id="16" name="Shape 14"/>
          <p:cNvSpPr/>
          <p:nvPr/>
        </p:nvSpPr>
        <p:spPr>
          <a:xfrm>
            <a:off x="5166360" y="1051560"/>
            <a:ext cx="822960" cy="822960"/>
          </a:xfrm>
          <a:prstGeom prst="ellipse">
            <a:avLst/>
          </a:prstGeom>
          <a:solidFill>
            <a:srgbClr val="0D9488"/>
          </a:solidFill>
          <a:ln w="12700">
            <a:solidFill>
              <a:srgbClr val="0D9488"/>
            </a:solidFill>
            <a:prstDash val="solid"/>
          </a:ln>
        </p:spPr>
        <p:txBody>
          <a:bodyPr/>
          <a:lstStyle/>
          <a:p>
            <a:endParaRPr lang="es-MX"/>
          </a:p>
        </p:txBody>
      </p:sp>
      <p:sp>
        <p:nvSpPr>
          <p:cNvPr id="17" name="Text 15"/>
          <p:cNvSpPr/>
          <p:nvPr/>
        </p:nvSpPr>
        <p:spPr>
          <a:xfrm>
            <a:off x="5166360" y="105156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8" name="Shape 16"/>
          <p:cNvSpPr/>
          <p:nvPr/>
        </p:nvSpPr>
        <p:spPr>
          <a:xfrm>
            <a:off x="4572000" y="2057400"/>
            <a:ext cx="1920240" cy="1097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9" name="Text 17"/>
          <p:cNvSpPr/>
          <p:nvPr/>
        </p:nvSpPr>
        <p:spPr>
          <a:xfrm>
            <a:off x="4572000" y="2130552"/>
            <a:ext cx="1920240" cy="411480"/>
          </a:xfrm>
          <a:prstGeom prst="rect">
            <a:avLst/>
          </a:prstGeom>
          <a:noFill/>
          <a:ln/>
        </p:spPr>
        <p:txBody>
          <a:bodyPr wrap="square" lIns="0" tIns="0" rIns="0" bIns="0" rtlCol="0" anchor="ctr"/>
          <a:lstStyle/>
          <a:p>
            <a:pPr marL="0" indent="0" algn="ctr">
              <a:buNone/>
            </a:pPr>
            <a:r>
              <a:rPr lang="en-US" sz="1200" b="1" dirty="0">
                <a:solidFill>
                  <a:srgbClr val="1E2A38"/>
                </a:solidFill>
                <a:latin typeface="Calibri" pitchFamily="34" charset="0"/>
                <a:ea typeface="Calibri" pitchFamily="34" charset="-122"/>
                <a:cs typeface="Calibri" pitchFamily="34" charset="-120"/>
              </a:rPr>
              <a:t>Mejor Modelo</a:t>
            </a:r>
            <a:endParaRPr lang="en-US" sz="1200" dirty="0"/>
          </a:p>
        </p:txBody>
      </p:sp>
      <p:sp>
        <p:nvSpPr>
          <p:cNvPr id="20" name="Text 18"/>
          <p:cNvSpPr/>
          <p:nvPr/>
        </p:nvSpPr>
        <p:spPr>
          <a:xfrm>
            <a:off x="4663440" y="2514600"/>
            <a:ext cx="1737360" cy="5486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RF o XGBoost con params óptimos</a:t>
            </a:r>
            <a:endParaRPr lang="en-US" sz="1000" dirty="0"/>
          </a:p>
        </p:txBody>
      </p:sp>
      <p:sp>
        <p:nvSpPr>
          <p:cNvPr id="21" name="Shape 19"/>
          <p:cNvSpPr/>
          <p:nvPr/>
        </p:nvSpPr>
        <p:spPr>
          <a:xfrm>
            <a:off x="6537960" y="2542032"/>
            <a:ext cx="201168" cy="73152"/>
          </a:xfrm>
          <a:prstGeom prst="rect">
            <a:avLst/>
          </a:prstGeom>
          <a:solidFill>
            <a:srgbClr val="64748B"/>
          </a:solidFill>
          <a:ln w="12700">
            <a:solidFill>
              <a:srgbClr val="64748B"/>
            </a:solidFill>
            <a:prstDash val="solid"/>
          </a:ln>
        </p:spPr>
        <p:txBody>
          <a:bodyPr/>
          <a:lstStyle/>
          <a:p>
            <a:endParaRPr lang="es-MX"/>
          </a:p>
        </p:txBody>
      </p:sp>
      <p:sp>
        <p:nvSpPr>
          <p:cNvPr id="22" name="Shape 20"/>
          <p:cNvSpPr/>
          <p:nvPr/>
        </p:nvSpPr>
        <p:spPr>
          <a:xfrm>
            <a:off x="7269480" y="1051560"/>
            <a:ext cx="822960" cy="822960"/>
          </a:xfrm>
          <a:prstGeom prst="ellipse">
            <a:avLst/>
          </a:prstGeom>
          <a:solidFill>
            <a:srgbClr val="0D9488"/>
          </a:solidFill>
          <a:ln w="12700">
            <a:solidFill>
              <a:srgbClr val="0D9488"/>
            </a:solidFill>
            <a:prstDash val="solid"/>
          </a:ln>
        </p:spPr>
        <p:txBody>
          <a:bodyPr/>
          <a:lstStyle/>
          <a:p>
            <a:endParaRPr lang="es-MX"/>
          </a:p>
        </p:txBody>
      </p:sp>
      <p:sp>
        <p:nvSpPr>
          <p:cNvPr id="23" name="Text 21"/>
          <p:cNvSpPr/>
          <p:nvPr/>
        </p:nvSpPr>
        <p:spPr>
          <a:xfrm>
            <a:off x="7269480" y="105156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4" name="Shape 22"/>
          <p:cNvSpPr/>
          <p:nvPr/>
        </p:nvSpPr>
        <p:spPr>
          <a:xfrm>
            <a:off x="6675120" y="2057400"/>
            <a:ext cx="1920240" cy="1097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25" name="Text 23"/>
          <p:cNvSpPr/>
          <p:nvPr/>
        </p:nvSpPr>
        <p:spPr>
          <a:xfrm>
            <a:off x="6675120" y="2130552"/>
            <a:ext cx="1920240" cy="411480"/>
          </a:xfrm>
          <a:prstGeom prst="rect">
            <a:avLst/>
          </a:prstGeom>
          <a:noFill/>
          <a:ln/>
        </p:spPr>
        <p:txBody>
          <a:bodyPr wrap="square" lIns="0" tIns="0" rIns="0" bIns="0" rtlCol="0" anchor="ctr"/>
          <a:lstStyle/>
          <a:p>
            <a:pPr marL="0" indent="0" algn="ctr">
              <a:buNone/>
            </a:pPr>
            <a:r>
              <a:rPr lang="en-US" sz="1200" b="1" dirty="0">
                <a:solidFill>
                  <a:srgbClr val="1E2A38"/>
                </a:solidFill>
                <a:latin typeface="Calibri" pitchFamily="34" charset="0"/>
                <a:ea typeface="Calibri" pitchFamily="34" charset="-122"/>
                <a:cs typeface="Calibri" pitchFamily="34" charset="-120"/>
              </a:rPr>
              <a:t>Cross Validate</a:t>
            </a:r>
            <a:endParaRPr lang="en-US" sz="1200" dirty="0"/>
          </a:p>
        </p:txBody>
      </p:sp>
      <p:sp>
        <p:nvSpPr>
          <p:cNvPr id="26" name="Text 24"/>
          <p:cNvSpPr/>
          <p:nvPr/>
        </p:nvSpPr>
        <p:spPr>
          <a:xfrm>
            <a:off x="6766560" y="2514600"/>
            <a:ext cx="1737360" cy="5486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Media y Std del RMSE en 5 folds</a:t>
            </a:r>
            <a:endParaRPr lang="en-US" sz="1000" dirty="0"/>
          </a:p>
        </p:txBody>
      </p:sp>
      <p:sp>
        <p:nvSpPr>
          <p:cNvPr id="27" name="Shape 25"/>
          <p:cNvSpPr/>
          <p:nvPr/>
        </p:nvSpPr>
        <p:spPr>
          <a:xfrm>
            <a:off x="457200" y="3383280"/>
            <a:ext cx="8229600" cy="1600200"/>
          </a:xfrm>
          <a:prstGeom prst="rect">
            <a:avLst/>
          </a:prstGeom>
          <a:solidFill>
            <a:srgbClr val="0F1923"/>
          </a:solidFill>
          <a:ln w="12700">
            <a:solidFill>
              <a:srgbClr val="0F1923"/>
            </a:solidFill>
            <a:prstDash val="solid"/>
          </a:ln>
          <a:effectLst>
            <a:outerShdw blurRad="101600" dist="38100" dir="8100000" algn="bl" rotWithShape="0">
              <a:srgbClr val="000000">
                <a:alpha val="12000"/>
              </a:srgbClr>
            </a:outerShdw>
          </a:effectLst>
        </p:spPr>
        <p:txBody>
          <a:bodyPr/>
          <a:lstStyle/>
          <a:p>
            <a:endParaRPr lang="es-MX"/>
          </a:p>
        </p:txBody>
      </p:sp>
      <p:sp>
        <p:nvSpPr>
          <p:cNvPr id="28" name="Text 26"/>
          <p:cNvSpPr/>
          <p:nvPr/>
        </p:nvSpPr>
        <p:spPr>
          <a:xfrm>
            <a:off x="640080" y="3474720"/>
            <a:ext cx="4572000" cy="365760"/>
          </a:xfrm>
          <a:prstGeom prst="rect">
            <a:avLst/>
          </a:prstGeom>
          <a:noFill/>
          <a:ln/>
        </p:spPr>
        <p:txBody>
          <a:bodyPr wrap="square" lIns="0" tIns="0" rIns="0" bIns="0" rtlCol="0" anchor="ctr"/>
          <a:lstStyle/>
          <a:p>
            <a:pPr marL="0" indent="0">
              <a:buNone/>
            </a:pPr>
            <a:r>
              <a:rPr lang="en-US" sz="1300" b="1" dirty="0">
                <a:solidFill>
                  <a:srgbClr val="F5C842"/>
                </a:solidFill>
                <a:latin typeface="Calibri" pitchFamily="34" charset="0"/>
                <a:ea typeface="Calibri" pitchFamily="34" charset="-122"/>
                <a:cs typeface="Calibri" pitchFamily="34" charset="-120"/>
              </a:rPr>
              <a:t>¿Por qué TimeSeriesSplit?</a:t>
            </a:r>
            <a:endParaRPr lang="en-US" sz="1300" dirty="0"/>
          </a:p>
        </p:txBody>
      </p:sp>
      <p:sp>
        <p:nvSpPr>
          <p:cNvPr id="29" name="Shape 27"/>
          <p:cNvSpPr/>
          <p:nvPr/>
        </p:nvSpPr>
        <p:spPr>
          <a:xfrm>
            <a:off x="4754880" y="3493008"/>
            <a:ext cx="320040" cy="201168"/>
          </a:xfrm>
          <a:prstGeom prst="rect">
            <a:avLst/>
          </a:prstGeom>
          <a:solidFill>
            <a:srgbClr val="DAA520"/>
          </a:solidFill>
          <a:ln w="12700">
            <a:solidFill>
              <a:srgbClr val="000000"/>
            </a:solidFill>
            <a:prstDash val="solid"/>
          </a:ln>
        </p:spPr>
        <p:txBody>
          <a:bodyPr/>
          <a:lstStyle/>
          <a:p>
            <a:endParaRPr lang="es-MX"/>
          </a:p>
        </p:txBody>
      </p:sp>
      <p:sp>
        <p:nvSpPr>
          <p:cNvPr id="30" name="Shape 28"/>
          <p:cNvSpPr/>
          <p:nvPr/>
        </p:nvSpPr>
        <p:spPr>
          <a:xfrm>
            <a:off x="4754880" y="3739896"/>
            <a:ext cx="320040" cy="201168"/>
          </a:xfrm>
          <a:prstGeom prst="rect">
            <a:avLst/>
          </a:prstGeom>
          <a:solidFill>
            <a:srgbClr val="2E86AB"/>
          </a:solidFill>
          <a:ln w="12700">
            <a:solidFill>
              <a:srgbClr val="000000"/>
            </a:solidFill>
            <a:prstDash val="solid"/>
          </a:ln>
        </p:spPr>
        <p:txBody>
          <a:bodyPr/>
          <a:lstStyle/>
          <a:p>
            <a:endParaRPr lang="es-MX"/>
          </a:p>
        </p:txBody>
      </p:sp>
      <p:sp>
        <p:nvSpPr>
          <p:cNvPr id="31" name="Shape 29"/>
          <p:cNvSpPr/>
          <p:nvPr/>
        </p:nvSpPr>
        <p:spPr>
          <a:xfrm>
            <a:off x="5111496" y="3739896"/>
            <a:ext cx="320040" cy="201168"/>
          </a:xfrm>
          <a:prstGeom prst="rect">
            <a:avLst/>
          </a:prstGeom>
          <a:solidFill>
            <a:srgbClr val="DAA520"/>
          </a:solidFill>
          <a:ln w="12700">
            <a:solidFill>
              <a:srgbClr val="000000"/>
            </a:solidFill>
            <a:prstDash val="solid"/>
          </a:ln>
        </p:spPr>
        <p:txBody>
          <a:bodyPr/>
          <a:lstStyle/>
          <a:p>
            <a:endParaRPr lang="es-MX"/>
          </a:p>
        </p:txBody>
      </p:sp>
      <p:sp>
        <p:nvSpPr>
          <p:cNvPr id="32" name="Shape 30"/>
          <p:cNvSpPr/>
          <p:nvPr/>
        </p:nvSpPr>
        <p:spPr>
          <a:xfrm>
            <a:off x="4754880" y="3986784"/>
            <a:ext cx="320040" cy="201168"/>
          </a:xfrm>
          <a:prstGeom prst="rect">
            <a:avLst/>
          </a:prstGeom>
          <a:solidFill>
            <a:srgbClr val="2E86AB"/>
          </a:solidFill>
          <a:ln w="12700">
            <a:solidFill>
              <a:srgbClr val="000000"/>
            </a:solidFill>
            <a:prstDash val="solid"/>
          </a:ln>
        </p:spPr>
        <p:txBody>
          <a:bodyPr/>
          <a:lstStyle/>
          <a:p>
            <a:endParaRPr lang="es-MX"/>
          </a:p>
        </p:txBody>
      </p:sp>
      <p:sp>
        <p:nvSpPr>
          <p:cNvPr id="33" name="Shape 31"/>
          <p:cNvSpPr/>
          <p:nvPr/>
        </p:nvSpPr>
        <p:spPr>
          <a:xfrm>
            <a:off x="5111496" y="3986784"/>
            <a:ext cx="320040" cy="201168"/>
          </a:xfrm>
          <a:prstGeom prst="rect">
            <a:avLst/>
          </a:prstGeom>
          <a:solidFill>
            <a:srgbClr val="2E86AB"/>
          </a:solidFill>
          <a:ln w="12700">
            <a:solidFill>
              <a:srgbClr val="000000"/>
            </a:solidFill>
            <a:prstDash val="solid"/>
          </a:ln>
        </p:spPr>
        <p:txBody>
          <a:bodyPr/>
          <a:lstStyle/>
          <a:p>
            <a:endParaRPr lang="es-MX"/>
          </a:p>
        </p:txBody>
      </p:sp>
      <p:sp>
        <p:nvSpPr>
          <p:cNvPr id="34" name="Shape 32"/>
          <p:cNvSpPr/>
          <p:nvPr/>
        </p:nvSpPr>
        <p:spPr>
          <a:xfrm>
            <a:off x="5468112" y="3986784"/>
            <a:ext cx="320040" cy="201168"/>
          </a:xfrm>
          <a:prstGeom prst="rect">
            <a:avLst/>
          </a:prstGeom>
          <a:solidFill>
            <a:srgbClr val="DAA520"/>
          </a:solidFill>
          <a:ln w="12700">
            <a:solidFill>
              <a:srgbClr val="000000"/>
            </a:solidFill>
            <a:prstDash val="solid"/>
          </a:ln>
        </p:spPr>
        <p:txBody>
          <a:bodyPr/>
          <a:lstStyle/>
          <a:p>
            <a:endParaRPr lang="es-MX"/>
          </a:p>
        </p:txBody>
      </p:sp>
      <p:sp>
        <p:nvSpPr>
          <p:cNvPr id="35" name="Shape 33"/>
          <p:cNvSpPr/>
          <p:nvPr/>
        </p:nvSpPr>
        <p:spPr>
          <a:xfrm>
            <a:off x="4754880" y="4233672"/>
            <a:ext cx="320040" cy="201168"/>
          </a:xfrm>
          <a:prstGeom prst="rect">
            <a:avLst/>
          </a:prstGeom>
          <a:solidFill>
            <a:srgbClr val="2E86AB"/>
          </a:solidFill>
          <a:ln w="12700">
            <a:solidFill>
              <a:srgbClr val="000000"/>
            </a:solidFill>
            <a:prstDash val="solid"/>
          </a:ln>
        </p:spPr>
        <p:txBody>
          <a:bodyPr/>
          <a:lstStyle/>
          <a:p>
            <a:endParaRPr lang="es-MX"/>
          </a:p>
        </p:txBody>
      </p:sp>
      <p:sp>
        <p:nvSpPr>
          <p:cNvPr id="36" name="Shape 34"/>
          <p:cNvSpPr/>
          <p:nvPr/>
        </p:nvSpPr>
        <p:spPr>
          <a:xfrm>
            <a:off x="5111496" y="4233672"/>
            <a:ext cx="320040" cy="201168"/>
          </a:xfrm>
          <a:prstGeom prst="rect">
            <a:avLst/>
          </a:prstGeom>
          <a:solidFill>
            <a:srgbClr val="2E86AB"/>
          </a:solidFill>
          <a:ln w="12700">
            <a:solidFill>
              <a:srgbClr val="000000"/>
            </a:solidFill>
            <a:prstDash val="solid"/>
          </a:ln>
        </p:spPr>
        <p:txBody>
          <a:bodyPr/>
          <a:lstStyle/>
          <a:p>
            <a:endParaRPr lang="es-MX"/>
          </a:p>
        </p:txBody>
      </p:sp>
      <p:sp>
        <p:nvSpPr>
          <p:cNvPr id="37" name="Shape 35"/>
          <p:cNvSpPr/>
          <p:nvPr/>
        </p:nvSpPr>
        <p:spPr>
          <a:xfrm>
            <a:off x="5468112" y="4233672"/>
            <a:ext cx="320040" cy="201168"/>
          </a:xfrm>
          <a:prstGeom prst="rect">
            <a:avLst/>
          </a:prstGeom>
          <a:solidFill>
            <a:srgbClr val="2E86AB"/>
          </a:solidFill>
          <a:ln w="12700">
            <a:solidFill>
              <a:srgbClr val="000000"/>
            </a:solidFill>
            <a:prstDash val="solid"/>
          </a:ln>
        </p:spPr>
        <p:txBody>
          <a:bodyPr/>
          <a:lstStyle/>
          <a:p>
            <a:endParaRPr lang="es-MX"/>
          </a:p>
        </p:txBody>
      </p:sp>
      <p:sp>
        <p:nvSpPr>
          <p:cNvPr id="38" name="Shape 36"/>
          <p:cNvSpPr/>
          <p:nvPr/>
        </p:nvSpPr>
        <p:spPr>
          <a:xfrm>
            <a:off x="5824728" y="4233672"/>
            <a:ext cx="320040" cy="201168"/>
          </a:xfrm>
          <a:prstGeom prst="rect">
            <a:avLst/>
          </a:prstGeom>
          <a:solidFill>
            <a:srgbClr val="DAA520"/>
          </a:solidFill>
          <a:ln w="12700">
            <a:solidFill>
              <a:srgbClr val="000000"/>
            </a:solidFill>
            <a:prstDash val="solid"/>
          </a:ln>
        </p:spPr>
        <p:txBody>
          <a:bodyPr/>
          <a:lstStyle/>
          <a:p>
            <a:endParaRPr lang="es-MX"/>
          </a:p>
        </p:txBody>
      </p:sp>
      <p:sp>
        <p:nvSpPr>
          <p:cNvPr id="39" name="Shape 37"/>
          <p:cNvSpPr/>
          <p:nvPr/>
        </p:nvSpPr>
        <p:spPr>
          <a:xfrm>
            <a:off x="4754880" y="4480560"/>
            <a:ext cx="320040" cy="201168"/>
          </a:xfrm>
          <a:prstGeom prst="rect">
            <a:avLst/>
          </a:prstGeom>
          <a:solidFill>
            <a:srgbClr val="2E86AB"/>
          </a:solidFill>
          <a:ln w="12700">
            <a:solidFill>
              <a:srgbClr val="000000"/>
            </a:solidFill>
            <a:prstDash val="solid"/>
          </a:ln>
        </p:spPr>
        <p:txBody>
          <a:bodyPr/>
          <a:lstStyle/>
          <a:p>
            <a:endParaRPr lang="es-MX"/>
          </a:p>
        </p:txBody>
      </p:sp>
      <p:sp>
        <p:nvSpPr>
          <p:cNvPr id="40" name="Shape 38"/>
          <p:cNvSpPr/>
          <p:nvPr/>
        </p:nvSpPr>
        <p:spPr>
          <a:xfrm>
            <a:off x="5111496" y="4480560"/>
            <a:ext cx="320040" cy="201168"/>
          </a:xfrm>
          <a:prstGeom prst="rect">
            <a:avLst/>
          </a:prstGeom>
          <a:solidFill>
            <a:srgbClr val="2E86AB"/>
          </a:solidFill>
          <a:ln w="12700">
            <a:solidFill>
              <a:srgbClr val="000000"/>
            </a:solidFill>
            <a:prstDash val="solid"/>
          </a:ln>
        </p:spPr>
        <p:txBody>
          <a:bodyPr/>
          <a:lstStyle/>
          <a:p>
            <a:endParaRPr lang="es-MX"/>
          </a:p>
        </p:txBody>
      </p:sp>
      <p:sp>
        <p:nvSpPr>
          <p:cNvPr id="41" name="Shape 39"/>
          <p:cNvSpPr/>
          <p:nvPr/>
        </p:nvSpPr>
        <p:spPr>
          <a:xfrm>
            <a:off x="5468112" y="4480560"/>
            <a:ext cx="320040" cy="201168"/>
          </a:xfrm>
          <a:prstGeom prst="rect">
            <a:avLst/>
          </a:prstGeom>
          <a:solidFill>
            <a:srgbClr val="2E86AB"/>
          </a:solidFill>
          <a:ln w="12700">
            <a:solidFill>
              <a:srgbClr val="000000"/>
            </a:solidFill>
            <a:prstDash val="solid"/>
          </a:ln>
        </p:spPr>
        <p:txBody>
          <a:bodyPr/>
          <a:lstStyle/>
          <a:p>
            <a:endParaRPr lang="es-MX"/>
          </a:p>
        </p:txBody>
      </p:sp>
      <p:sp>
        <p:nvSpPr>
          <p:cNvPr id="42" name="Shape 40"/>
          <p:cNvSpPr/>
          <p:nvPr/>
        </p:nvSpPr>
        <p:spPr>
          <a:xfrm>
            <a:off x="5824728" y="4480560"/>
            <a:ext cx="320040" cy="201168"/>
          </a:xfrm>
          <a:prstGeom prst="rect">
            <a:avLst/>
          </a:prstGeom>
          <a:solidFill>
            <a:srgbClr val="2E86AB"/>
          </a:solidFill>
          <a:ln w="12700">
            <a:solidFill>
              <a:srgbClr val="000000"/>
            </a:solidFill>
            <a:prstDash val="solid"/>
          </a:ln>
        </p:spPr>
        <p:txBody>
          <a:bodyPr/>
          <a:lstStyle/>
          <a:p>
            <a:endParaRPr lang="es-MX"/>
          </a:p>
        </p:txBody>
      </p:sp>
      <p:sp>
        <p:nvSpPr>
          <p:cNvPr id="43" name="Shape 41"/>
          <p:cNvSpPr/>
          <p:nvPr/>
        </p:nvSpPr>
        <p:spPr>
          <a:xfrm>
            <a:off x="6181344" y="4480560"/>
            <a:ext cx="320040" cy="201168"/>
          </a:xfrm>
          <a:prstGeom prst="rect">
            <a:avLst/>
          </a:prstGeom>
          <a:solidFill>
            <a:srgbClr val="DAA520"/>
          </a:solidFill>
          <a:ln w="12700">
            <a:solidFill>
              <a:srgbClr val="000000"/>
            </a:solidFill>
            <a:prstDash val="solid"/>
          </a:ln>
        </p:spPr>
        <p:txBody>
          <a:bodyPr/>
          <a:lstStyle/>
          <a:p>
            <a:endParaRPr lang="es-MX"/>
          </a:p>
        </p:txBody>
      </p:sp>
      <p:sp>
        <p:nvSpPr>
          <p:cNvPr id="44" name="Text 42"/>
          <p:cNvSpPr/>
          <p:nvPr/>
        </p:nvSpPr>
        <p:spPr>
          <a:xfrm>
            <a:off x="640080" y="3822192"/>
            <a:ext cx="3931920" cy="10058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En cada fold, la validación siempre es cronológicamente posterior al entrenamiento.</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Esto respeta la causalidad y evita usar el futuro para predecir el pasado.</a:t>
            </a:r>
            <a:endParaRPr lang="en-US" sz="1100" dirty="0"/>
          </a:p>
        </p:txBody>
      </p:sp>
      <p:sp>
        <p:nvSpPr>
          <p:cNvPr id="45" name="Text 43"/>
          <p:cNvSpPr/>
          <p:nvPr/>
        </p:nvSpPr>
        <p:spPr>
          <a:xfrm>
            <a:off x="4754880" y="4736592"/>
            <a:ext cx="34747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Entrenamiento    ■ Validación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DAA520"/>
          </a:solidFill>
          <a:ln w="12700">
            <a:solidFill>
              <a:srgbClr val="DAA520"/>
            </a:solidFill>
            <a:prstDash val="solid"/>
          </a:ln>
        </p:spPr>
        <p:txBody>
          <a:bodyPr/>
          <a:lstStyle/>
          <a:p>
            <a:endParaRPr lang="es-MX"/>
          </a:p>
        </p:txBody>
      </p:sp>
      <p:sp>
        <p:nvSpPr>
          <p:cNvPr id="3" name="Text 1"/>
          <p:cNvSpPr/>
          <p:nvPr/>
        </p:nvSpPr>
        <p:spPr>
          <a:xfrm>
            <a:off x="457200" y="320040"/>
            <a:ext cx="8229600" cy="594360"/>
          </a:xfrm>
          <a:prstGeom prst="rect">
            <a:avLst/>
          </a:prstGeom>
          <a:noFill/>
          <a:ln/>
        </p:spPr>
        <p:txBody>
          <a:bodyPr wrap="square" lIns="0" tIns="0" rIns="0" bIns="0" rtlCol="0" anchor="ctr"/>
          <a:lstStyle/>
          <a:p>
            <a:pPr marL="0" indent="0">
              <a:buNone/>
            </a:pPr>
            <a:r>
              <a:rPr lang="en-US" sz="3000" b="1" dirty="0">
                <a:solidFill>
                  <a:srgbClr val="1E2A38"/>
                </a:solidFill>
                <a:latin typeface="Calibri" pitchFamily="34" charset="0"/>
                <a:ea typeface="Calibri" pitchFamily="34" charset="-122"/>
                <a:cs typeface="Calibri" pitchFamily="34" charset="-120"/>
              </a:rPr>
              <a:t>Modelos Propuestos</a:t>
            </a:r>
            <a:endParaRPr lang="en-US" sz="3000" dirty="0"/>
          </a:p>
        </p:txBody>
      </p:sp>
      <p:sp>
        <p:nvSpPr>
          <p:cNvPr id="4" name="Shape 2"/>
          <p:cNvSpPr/>
          <p:nvPr/>
        </p:nvSpPr>
        <p:spPr>
          <a:xfrm>
            <a:off x="365760" y="1051560"/>
            <a:ext cx="4023360" cy="3886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365760" y="1051560"/>
            <a:ext cx="4023360" cy="502920"/>
          </a:xfrm>
          <a:prstGeom prst="rect">
            <a:avLst/>
          </a:prstGeom>
          <a:solidFill>
            <a:srgbClr val="2E86AB"/>
          </a:solidFill>
          <a:ln w="12700">
            <a:solidFill>
              <a:srgbClr val="2E86AB"/>
            </a:solidFill>
            <a:prstDash val="solid"/>
          </a:ln>
        </p:spPr>
        <p:txBody>
          <a:bodyPr/>
          <a:lstStyle/>
          <a:p>
            <a:endParaRPr lang="es-MX"/>
          </a:p>
        </p:txBody>
      </p:sp>
      <p:sp>
        <p:nvSpPr>
          <p:cNvPr id="6" name="Text 4"/>
          <p:cNvSpPr/>
          <p:nvPr/>
        </p:nvSpPr>
        <p:spPr>
          <a:xfrm>
            <a:off x="365760" y="1051560"/>
            <a:ext cx="402336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Random Forest</a:t>
            </a:r>
            <a:endParaRPr lang="en-US" sz="1500" dirty="0"/>
          </a:p>
        </p:txBody>
      </p:sp>
      <p:sp>
        <p:nvSpPr>
          <p:cNvPr id="7" name="Text 5"/>
          <p:cNvSpPr/>
          <p:nvPr/>
        </p:nvSpPr>
        <p:spPr>
          <a:xfrm>
            <a:off x="502920" y="1664208"/>
            <a:ext cx="3749040" cy="320040"/>
          </a:xfrm>
          <a:prstGeom prst="rect">
            <a:avLst/>
          </a:prstGeom>
          <a:noFill/>
          <a:ln/>
        </p:spPr>
        <p:txBody>
          <a:bodyPr wrap="square" lIns="0" tIns="0" rIns="0" bIns="0"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Espacio de búsqueda (RandomizedSearchCV · 15 iter)</a:t>
            </a:r>
            <a:endParaRPr lang="en-US" sz="1050" dirty="0"/>
          </a:p>
        </p:txBody>
      </p:sp>
      <p:sp>
        <p:nvSpPr>
          <p:cNvPr id="8" name="Shape 6"/>
          <p:cNvSpPr/>
          <p:nvPr/>
        </p:nvSpPr>
        <p:spPr>
          <a:xfrm>
            <a:off x="502920" y="1993392"/>
            <a:ext cx="3749040" cy="402336"/>
          </a:xfrm>
          <a:prstGeom prst="rect">
            <a:avLst/>
          </a:prstGeom>
          <a:solidFill>
            <a:srgbClr val="F8F9FA"/>
          </a:solidFill>
          <a:ln w="12700">
            <a:solidFill>
              <a:srgbClr val="E2E8F0"/>
            </a:solidFill>
            <a:prstDash val="solid"/>
          </a:ln>
        </p:spPr>
        <p:txBody>
          <a:bodyPr/>
          <a:lstStyle/>
          <a:p>
            <a:endParaRPr lang="es-MX"/>
          </a:p>
        </p:txBody>
      </p:sp>
      <p:sp>
        <p:nvSpPr>
          <p:cNvPr id="9" name="Text 7"/>
          <p:cNvSpPr/>
          <p:nvPr/>
        </p:nvSpPr>
        <p:spPr>
          <a:xfrm>
            <a:off x="594360" y="2048256"/>
            <a:ext cx="1645920" cy="292608"/>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n_estimators</a:t>
            </a:r>
            <a:endParaRPr lang="en-US" sz="1100" dirty="0"/>
          </a:p>
        </p:txBody>
      </p:sp>
      <p:sp>
        <p:nvSpPr>
          <p:cNvPr id="10" name="Text 8"/>
          <p:cNvSpPr/>
          <p:nvPr/>
        </p:nvSpPr>
        <p:spPr>
          <a:xfrm>
            <a:off x="2240280" y="2048256"/>
            <a:ext cx="192024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100 / 200 / 300</a:t>
            </a:r>
            <a:endParaRPr lang="en-US" sz="1100" dirty="0"/>
          </a:p>
        </p:txBody>
      </p:sp>
      <p:sp>
        <p:nvSpPr>
          <p:cNvPr id="11" name="Shape 9"/>
          <p:cNvSpPr/>
          <p:nvPr/>
        </p:nvSpPr>
        <p:spPr>
          <a:xfrm>
            <a:off x="502920" y="2468880"/>
            <a:ext cx="3749040" cy="402336"/>
          </a:xfrm>
          <a:prstGeom prst="rect">
            <a:avLst/>
          </a:prstGeom>
          <a:solidFill>
            <a:srgbClr val="FFFFFF"/>
          </a:solidFill>
          <a:ln w="12700">
            <a:solidFill>
              <a:srgbClr val="E2E8F0"/>
            </a:solidFill>
            <a:prstDash val="solid"/>
          </a:ln>
        </p:spPr>
        <p:txBody>
          <a:bodyPr/>
          <a:lstStyle/>
          <a:p>
            <a:endParaRPr lang="es-MX"/>
          </a:p>
        </p:txBody>
      </p:sp>
      <p:sp>
        <p:nvSpPr>
          <p:cNvPr id="12" name="Text 10"/>
          <p:cNvSpPr/>
          <p:nvPr/>
        </p:nvSpPr>
        <p:spPr>
          <a:xfrm>
            <a:off x="594360" y="2523744"/>
            <a:ext cx="1645920" cy="292608"/>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max_depth</a:t>
            </a:r>
            <a:endParaRPr lang="en-US" sz="1100" dirty="0"/>
          </a:p>
        </p:txBody>
      </p:sp>
      <p:sp>
        <p:nvSpPr>
          <p:cNvPr id="13" name="Text 11"/>
          <p:cNvSpPr/>
          <p:nvPr/>
        </p:nvSpPr>
        <p:spPr>
          <a:xfrm>
            <a:off x="2240280" y="2523744"/>
            <a:ext cx="192024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None / 10 / 20</a:t>
            </a:r>
            <a:endParaRPr lang="en-US" sz="1100" dirty="0"/>
          </a:p>
        </p:txBody>
      </p:sp>
      <p:sp>
        <p:nvSpPr>
          <p:cNvPr id="14" name="Shape 12"/>
          <p:cNvSpPr/>
          <p:nvPr/>
        </p:nvSpPr>
        <p:spPr>
          <a:xfrm>
            <a:off x="502920" y="2944368"/>
            <a:ext cx="3749040" cy="402336"/>
          </a:xfrm>
          <a:prstGeom prst="rect">
            <a:avLst/>
          </a:prstGeom>
          <a:solidFill>
            <a:srgbClr val="F8F9FA"/>
          </a:solidFill>
          <a:ln w="12700">
            <a:solidFill>
              <a:srgbClr val="E2E8F0"/>
            </a:solidFill>
            <a:prstDash val="solid"/>
          </a:ln>
        </p:spPr>
        <p:txBody>
          <a:bodyPr/>
          <a:lstStyle/>
          <a:p>
            <a:endParaRPr lang="es-MX"/>
          </a:p>
        </p:txBody>
      </p:sp>
      <p:sp>
        <p:nvSpPr>
          <p:cNvPr id="15" name="Text 13"/>
          <p:cNvSpPr/>
          <p:nvPr/>
        </p:nvSpPr>
        <p:spPr>
          <a:xfrm>
            <a:off x="594360" y="2999232"/>
            <a:ext cx="1645920" cy="292608"/>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max_features</a:t>
            </a:r>
            <a:endParaRPr lang="en-US" sz="1100" dirty="0"/>
          </a:p>
        </p:txBody>
      </p:sp>
      <p:sp>
        <p:nvSpPr>
          <p:cNvPr id="16" name="Text 14"/>
          <p:cNvSpPr/>
          <p:nvPr/>
        </p:nvSpPr>
        <p:spPr>
          <a:xfrm>
            <a:off x="2240280" y="2999232"/>
            <a:ext cx="192024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sqrt / 0.5</a:t>
            </a:r>
            <a:endParaRPr lang="en-US" sz="1100" dirty="0"/>
          </a:p>
        </p:txBody>
      </p:sp>
      <p:sp>
        <p:nvSpPr>
          <p:cNvPr id="17" name="Shape 15"/>
          <p:cNvSpPr/>
          <p:nvPr/>
        </p:nvSpPr>
        <p:spPr>
          <a:xfrm>
            <a:off x="502920" y="3419856"/>
            <a:ext cx="3749040" cy="402336"/>
          </a:xfrm>
          <a:prstGeom prst="rect">
            <a:avLst/>
          </a:prstGeom>
          <a:solidFill>
            <a:srgbClr val="FFFFFF"/>
          </a:solidFill>
          <a:ln w="12700">
            <a:solidFill>
              <a:srgbClr val="E2E8F0"/>
            </a:solidFill>
            <a:prstDash val="solid"/>
          </a:ln>
        </p:spPr>
        <p:txBody>
          <a:bodyPr/>
          <a:lstStyle/>
          <a:p>
            <a:endParaRPr lang="es-MX"/>
          </a:p>
        </p:txBody>
      </p:sp>
      <p:sp>
        <p:nvSpPr>
          <p:cNvPr id="18" name="Text 16"/>
          <p:cNvSpPr/>
          <p:nvPr/>
        </p:nvSpPr>
        <p:spPr>
          <a:xfrm>
            <a:off x="594360" y="3474720"/>
            <a:ext cx="1645920" cy="292608"/>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min_samples_split</a:t>
            </a:r>
            <a:endParaRPr lang="en-US" sz="1100" dirty="0"/>
          </a:p>
        </p:txBody>
      </p:sp>
      <p:sp>
        <p:nvSpPr>
          <p:cNvPr id="19" name="Text 17"/>
          <p:cNvSpPr/>
          <p:nvPr/>
        </p:nvSpPr>
        <p:spPr>
          <a:xfrm>
            <a:off x="2240280" y="3474720"/>
            <a:ext cx="192024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2 / 5</a:t>
            </a:r>
            <a:endParaRPr lang="en-US" sz="1100" dirty="0"/>
          </a:p>
        </p:txBody>
      </p:sp>
      <p:sp>
        <p:nvSpPr>
          <p:cNvPr id="20" name="Text 18"/>
          <p:cNvSpPr/>
          <p:nvPr/>
        </p:nvSpPr>
        <p:spPr>
          <a:xfrm>
            <a:off x="502920" y="3977640"/>
            <a:ext cx="3749040" cy="8229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Idea clave: promedia 100–300 árboles independientes entrenados en muestras bootstrap, reduciendo varianza.</a:t>
            </a:r>
            <a:endParaRPr lang="en-US" sz="1050" dirty="0"/>
          </a:p>
        </p:txBody>
      </p:sp>
      <p:sp>
        <p:nvSpPr>
          <p:cNvPr id="21" name="Shape 19"/>
          <p:cNvSpPr/>
          <p:nvPr/>
        </p:nvSpPr>
        <p:spPr>
          <a:xfrm>
            <a:off x="4754880" y="1051560"/>
            <a:ext cx="4023360" cy="3886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22" name="Shape 20"/>
          <p:cNvSpPr/>
          <p:nvPr/>
        </p:nvSpPr>
        <p:spPr>
          <a:xfrm>
            <a:off x="4754880" y="1051560"/>
            <a:ext cx="4023360" cy="502920"/>
          </a:xfrm>
          <a:prstGeom prst="rect">
            <a:avLst/>
          </a:prstGeom>
          <a:solidFill>
            <a:srgbClr val="DAA520"/>
          </a:solidFill>
          <a:ln w="12700">
            <a:solidFill>
              <a:srgbClr val="DAA520"/>
            </a:solidFill>
            <a:prstDash val="solid"/>
          </a:ln>
        </p:spPr>
        <p:txBody>
          <a:bodyPr/>
          <a:lstStyle/>
          <a:p>
            <a:endParaRPr lang="es-MX"/>
          </a:p>
        </p:txBody>
      </p:sp>
      <p:sp>
        <p:nvSpPr>
          <p:cNvPr id="23" name="Text 21"/>
          <p:cNvSpPr/>
          <p:nvPr/>
        </p:nvSpPr>
        <p:spPr>
          <a:xfrm>
            <a:off x="4754880" y="1051560"/>
            <a:ext cx="4023360" cy="502920"/>
          </a:xfrm>
          <a:prstGeom prst="rect">
            <a:avLst/>
          </a:prstGeom>
          <a:noFill/>
          <a:ln/>
        </p:spPr>
        <p:txBody>
          <a:bodyPr wrap="square" lIns="0" tIns="0" rIns="0" bIns="0" rtlCol="0" anchor="ctr"/>
          <a:lstStyle/>
          <a:p>
            <a:pPr marL="0" indent="0" algn="ctr">
              <a:buNone/>
            </a:pPr>
            <a:r>
              <a:rPr lang="en-US" sz="1500" b="1" dirty="0">
                <a:solidFill>
                  <a:srgbClr val="0F1923"/>
                </a:solidFill>
                <a:latin typeface="Calibri" pitchFamily="34" charset="0"/>
                <a:ea typeface="Calibri" pitchFamily="34" charset="-122"/>
                <a:cs typeface="Calibri" pitchFamily="34" charset="-120"/>
              </a:rPr>
              <a:t>⚡  XGBoost</a:t>
            </a:r>
            <a:endParaRPr lang="en-US" sz="1500" dirty="0"/>
          </a:p>
        </p:txBody>
      </p:sp>
      <p:sp>
        <p:nvSpPr>
          <p:cNvPr id="24" name="Text 22"/>
          <p:cNvSpPr/>
          <p:nvPr/>
        </p:nvSpPr>
        <p:spPr>
          <a:xfrm>
            <a:off x="4892040" y="1664208"/>
            <a:ext cx="3749040" cy="320040"/>
          </a:xfrm>
          <a:prstGeom prst="rect">
            <a:avLst/>
          </a:prstGeom>
          <a:noFill/>
          <a:ln/>
        </p:spPr>
        <p:txBody>
          <a:bodyPr wrap="square" lIns="0" tIns="0" rIns="0" bIns="0"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Espacio de búsqueda (RandomizedSearchCV · 15 iter)</a:t>
            </a:r>
            <a:endParaRPr lang="en-US" sz="1050" dirty="0"/>
          </a:p>
        </p:txBody>
      </p:sp>
      <p:sp>
        <p:nvSpPr>
          <p:cNvPr id="25" name="Shape 23"/>
          <p:cNvSpPr/>
          <p:nvPr/>
        </p:nvSpPr>
        <p:spPr>
          <a:xfrm>
            <a:off x="4892040" y="1993392"/>
            <a:ext cx="3749040" cy="329184"/>
          </a:xfrm>
          <a:prstGeom prst="rect">
            <a:avLst/>
          </a:prstGeom>
          <a:solidFill>
            <a:srgbClr val="F8F9FA"/>
          </a:solidFill>
          <a:ln w="12700">
            <a:solidFill>
              <a:srgbClr val="E2E8F0"/>
            </a:solidFill>
            <a:prstDash val="solid"/>
          </a:ln>
        </p:spPr>
        <p:txBody>
          <a:bodyPr/>
          <a:lstStyle/>
          <a:p>
            <a:endParaRPr lang="es-MX"/>
          </a:p>
        </p:txBody>
      </p:sp>
      <p:sp>
        <p:nvSpPr>
          <p:cNvPr id="26" name="Text 24"/>
          <p:cNvSpPr/>
          <p:nvPr/>
        </p:nvSpPr>
        <p:spPr>
          <a:xfrm>
            <a:off x="4983480" y="2029968"/>
            <a:ext cx="1645920" cy="256032"/>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n_estimators</a:t>
            </a:r>
            <a:endParaRPr lang="en-US" sz="1100" dirty="0"/>
          </a:p>
        </p:txBody>
      </p:sp>
      <p:sp>
        <p:nvSpPr>
          <p:cNvPr id="27" name="Text 25"/>
          <p:cNvSpPr/>
          <p:nvPr/>
        </p:nvSpPr>
        <p:spPr>
          <a:xfrm>
            <a:off x="6629400" y="2029968"/>
            <a:ext cx="19202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100 / 200 / 300</a:t>
            </a:r>
            <a:endParaRPr lang="en-US" sz="1100" dirty="0"/>
          </a:p>
        </p:txBody>
      </p:sp>
      <p:sp>
        <p:nvSpPr>
          <p:cNvPr id="28" name="Shape 26"/>
          <p:cNvSpPr/>
          <p:nvPr/>
        </p:nvSpPr>
        <p:spPr>
          <a:xfrm>
            <a:off x="4892040" y="2377440"/>
            <a:ext cx="3749040" cy="329184"/>
          </a:xfrm>
          <a:prstGeom prst="rect">
            <a:avLst/>
          </a:prstGeom>
          <a:solidFill>
            <a:srgbClr val="FFFFFF"/>
          </a:solidFill>
          <a:ln w="12700">
            <a:solidFill>
              <a:srgbClr val="E2E8F0"/>
            </a:solidFill>
            <a:prstDash val="solid"/>
          </a:ln>
        </p:spPr>
        <p:txBody>
          <a:bodyPr/>
          <a:lstStyle/>
          <a:p>
            <a:endParaRPr lang="es-MX"/>
          </a:p>
        </p:txBody>
      </p:sp>
      <p:sp>
        <p:nvSpPr>
          <p:cNvPr id="29" name="Text 27"/>
          <p:cNvSpPr/>
          <p:nvPr/>
        </p:nvSpPr>
        <p:spPr>
          <a:xfrm>
            <a:off x="4983480" y="2414016"/>
            <a:ext cx="1645920" cy="256032"/>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max_depth</a:t>
            </a:r>
            <a:endParaRPr lang="en-US" sz="1100" dirty="0"/>
          </a:p>
        </p:txBody>
      </p:sp>
      <p:sp>
        <p:nvSpPr>
          <p:cNvPr id="30" name="Text 28"/>
          <p:cNvSpPr/>
          <p:nvPr/>
        </p:nvSpPr>
        <p:spPr>
          <a:xfrm>
            <a:off x="6629400" y="2414016"/>
            <a:ext cx="19202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 / 5 / 7</a:t>
            </a:r>
            <a:endParaRPr lang="en-US" sz="1100" dirty="0"/>
          </a:p>
        </p:txBody>
      </p:sp>
      <p:sp>
        <p:nvSpPr>
          <p:cNvPr id="31" name="Shape 29"/>
          <p:cNvSpPr/>
          <p:nvPr/>
        </p:nvSpPr>
        <p:spPr>
          <a:xfrm>
            <a:off x="4892040" y="2761488"/>
            <a:ext cx="3749040" cy="329184"/>
          </a:xfrm>
          <a:prstGeom prst="rect">
            <a:avLst/>
          </a:prstGeom>
          <a:solidFill>
            <a:srgbClr val="F8F9FA"/>
          </a:solidFill>
          <a:ln w="12700">
            <a:solidFill>
              <a:srgbClr val="E2E8F0"/>
            </a:solidFill>
            <a:prstDash val="solid"/>
          </a:ln>
        </p:spPr>
        <p:txBody>
          <a:bodyPr/>
          <a:lstStyle/>
          <a:p>
            <a:endParaRPr lang="es-MX"/>
          </a:p>
        </p:txBody>
      </p:sp>
      <p:sp>
        <p:nvSpPr>
          <p:cNvPr id="32" name="Text 30"/>
          <p:cNvSpPr/>
          <p:nvPr/>
        </p:nvSpPr>
        <p:spPr>
          <a:xfrm>
            <a:off x="4983480" y="2798064"/>
            <a:ext cx="1645920" cy="256032"/>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learning_rate</a:t>
            </a:r>
            <a:endParaRPr lang="en-US" sz="1100" dirty="0"/>
          </a:p>
        </p:txBody>
      </p:sp>
      <p:sp>
        <p:nvSpPr>
          <p:cNvPr id="33" name="Text 31"/>
          <p:cNvSpPr/>
          <p:nvPr/>
        </p:nvSpPr>
        <p:spPr>
          <a:xfrm>
            <a:off x="6629400" y="2798064"/>
            <a:ext cx="19202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0.01 / 0.05 / 0.1</a:t>
            </a:r>
            <a:endParaRPr lang="en-US" sz="1100" dirty="0"/>
          </a:p>
        </p:txBody>
      </p:sp>
      <p:sp>
        <p:nvSpPr>
          <p:cNvPr id="34" name="Shape 32"/>
          <p:cNvSpPr/>
          <p:nvPr/>
        </p:nvSpPr>
        <p:spPr>
          <a:xfrm>
            <a:off x="4892040" y="3145536"/>
            <a:ext cx="3749040" cy="329184"/>
          </a:xfrm>
          <a:prstGeom prst="rect">
            <a:avLst/>
          </a:prstGeom>
          <a:solidFill>
            <a:srgbClr val="FFFFFF"/>
          </a:solidFill>
          <a:ln w="12700">
            <a:solidFill>
              <a:srgbClr val="E2E8F0"/>
            </a:solidFill>
            <a:prstDash val="solid"/>
          </a:ln>
        </p:spPr>
        <p:txBody>
          <a:bodyPr/>
          <a:lstStyle/>
          <a:p>
            <a:endParaRPr lang="es-MX"/>
          </a:p>
        </p:txBody>
      </p:sp>
      <p:sp>
        <p:nvSpPr>
          <p:cNvPr id="35" name="Text 33"/>
          <p:cNvSpPr/>
          <p:nvPr/>
        </p:nvSpPr>
        <p:spPr>
          <a:xfrm>
            <a:off x="4983480" y="3182112"/>
            <a:ext cx="1645920" cy="256032"/>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subsample</a:t>
            </a:r>
            <a:endParaRPr lang="en-US" sz="1100" dirty="0"/>
          </a:p>
        </p:txBody>
      </p:sp>
      <p:sp>
        <p:nvSpPr>
          <p:cNvPr id="36" name="Text 34"/>
          <p:cNvSpPr/>
          <p:nvPr/>
        </p:nvSpPr>
        <p:spPr>
          <a:xfrm>
            <a:off x="6629400" y="3182112"/>
            <a:ext cx="19202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0.8 / 1.0</a:t>
            </a:r>
            <a:endParaRPr lang="en-US" sz="1100" dirty="0"/>
          </a:p>
        </p:txBody>
      </p:sp>
      <p:sp>
        <p:nvSpPr>
          <p:cNvPr id="37" name="Shape 35"/>
          <p:cNvSpPr/>
          <p:nvPr/>
        </p:nvSpPr>
        <p:spPr>
          <a:xfrm>
            <a:off x="4892040" y="3529584"/>
            <a:ext cx="3749040" cy="329184"/>
          </a:xfrm>
          <a:prstGeom prst="rect">
            <a:avLst/>
          </a:prstGeom>
          <a:solidFill>
            <a:srgbClr val="F8F9FA"/>
          </a:solidFill>
          <a:ln w="12700">
            <a:solidFill>
              <a:srgbClr val="E2E8F0"/>
            </a:solidFill>
            <a:prstDash val="solid"/>
          </a:ln>
        </p:spPr>
        <p:txBody>
          <a:bodyPr/>
          <a:lstStyle/>
          <a:p>
            <a:endParaRPr lang="es-MX"/>
          </a:p>
        </p:txBody>
      </p:sp>
      <p:sp>
        <p:nvSpPr>
          <p:cNvPr id="38" name="Text 36"/>
          <p:cNvSpPr/>
          <p:nvPr/>
        </p:nvSpPr>
        <p:spPr>
          <a:xfrm>
            <a:off x="4983480" y="3566160"/>
            <a:ext cx="1645920" cy="256032"/>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reg_alpha</a:t>
            </a:r>
            <a:endParaRPr lang="en-US" sz="1100" dirty="0"/>
          </a:p>
        </p:txBody>
      </p:sp>
      <p:sp>
        <p:nvSpPr>
          <p:cNvPr id="39" name="Text 37"/>
          <p:cNvSpPr/>
          <p:nvPr/>
        </p:nvSpPr>
        <p:spPr>
          <a:xfrm>
            <a:off x="6629400" y="3566160"/>
            <a:ext cx="19202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0 / 0.1</a:t>
            </a:r>
            <a:endParaRPr lang="en-US" sz="1100" dirty="0"/>
          </a:p>
        </p:txBody>
      </p:sp>
      <p:sp>
        <p:nvSpPr>
          <p:cNvPr id="40" name="Text 38"/>
          <p:cNvSpPr/>
          <p:nvPr/>
        </p:nvSpPr>
        <p:spPr>
          <a:xfrm>
            <a:off x="4892040" y="3977640"/>
            <a:ext cx="3749040" cy="8229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Idea clave: cada árbol corrige los errores del anterior (boosting secuencial), con regularización L1/L2.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D9488"/>
          </a:solidFill>
          <a:ln w="12700">
            <a:solidFill>
              <a:srgbClr val="0D9488"/>
            </a:solidFill>
            <a:prstDash val="solid"/>
          </a:ln>
        </p:spPr>
        <p:txBody>
          <a:bodyPr/>
          <a:lstStyle/>
          <a:p>
            <a:endParaRPr lang="es-MX"/>
          </a:p>
        </p:txBody>
      </p:sp>
      <p:sp>
        <p:nvSpPr>
          <p:cNvPr id="3" name="Text 1"/>
          <p:cNvSpPr/>
          <p:nvPr/>
        </p:nvSpPr>
        <p:spPr>
          <a:xfrm>
            <a:off x="457200" y="320040"/>
            <a:ext cx="8229600" cy="594360"/>
          </a:xfrm>
          <a:prstGeom prst="rect">
            <a:avLst/>
          </a:prstGeom>
          <a:noFill/>
          <a:ln/>
        </p:spPr>
        <p:txBody>
          <a:bodyPr wrap="square" lIns="0" tIns="0" rIns="0" bIns="0" rtlCol="0" anchor="ctr"/>
          <a:lstStyle/>
          <a:p>
            <a:pPr marL="0" indent="0">
              <a:buNone/>
            </a:pPr>
            <a:r>
              <a:rPr lang="en-US" sz="2700" b="1" dirty="0">
                <a:solidFill>
                  <a:srgbClr val="1E2A38"/>
                </a:solidFill>
                <a:latin typeface="Calibri" pitchFamily="34" charset="0"/>
                <a:ea typeface="Calibri" pitchFamily="34" charset="-122"/>
                <a:cs typeface="Calibri" pitchFamily="34" charset="-120"/>
              </a:rPr>
              <a:t>Resultados — Validación Cruzada Temporal</a:t>
            </a:r>
            <a:endParaRPr lang="en-US" sz="2700" dirty="0"/>
          </a:p>
        </p:txBody>
      </p:sp>
      <p:sp>
        <p:nvSpPr>
          <p:cNvPr id="4" name="Shape 2"/>
          <p:cNvSpPr/>
          <p:nvPr/>
        </p:nvSpPr>
        <p:spPr>
          <a:xfrm>
            <a:off x="457200" y="1097280"/>
            <a:ext cx="4023360" cy="25603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457200" y="1097280"/>
            <a:ext cx="4023360" cy="457200"/>
          </a:xfrm>
          <a:prstGeom prst="rect">
            <a:avLst/>
          </a:prstGeom>
          <a:solidFill>
            <a:srgbClr val="2E86AB"/>
          </a:solidFill>
          <a:ln w="12700">
            <a:solidFill>
              <a:srgbClr val="2E86AB"/>
            </a:solidFill>
            <a:prstDash val="solid"/>
          </a:ln>
        </p:spPr>
        <p:txBody>
          <a:bodyPr/>
          <a:lstStyle/>
          <a:p>
            <a:endParaRPr lang="es-MX"/>
          </a:p>
        </p:txBody>
      </p:sp>
      <p:sp>
        <p:nvSpPr>
          <p:cNvPr id="6" name="Text 4"/>
          <p:cNvSpPr/>
          <p:nvPr/>
        </p:nvSpPr>
        <p:spPr>
          <a:xfrm>
            <a:off x="457200" y="1097280"/>
            <a:ext cx="4023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Random Forest</a:t>
            </a:r>
            <a:endParaRPr lang="en-US" sz="1400" dirty="0"/>
          </a:p>
        </p:txBody>
      </p:sp>
      <p:sp>
        <p:nvSpPr>
          <p:cNvPr id="7" name="Text 5"/>
          <p:cNvSpPr/>
          <p:nvPr/>
        </p:nvSpPr>
        <p:spPr>
          <a:xfrm>
            <a:off x="457200" y="1627632"/>
            <a:ext cx="402336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RMSE Prueba</a:t>
            </a:r>
            <a:endParaRPr lang="en-US" sz="1100" dirty="0"/>
          </a:p>
        </p:txBody>
      </p:sp>
      <p:sp>
        <p:nvSpPr>
          <p:cNvPr id="8" name="Text 6"/>
          <p:cNvSpPr/>
          <p:nvPr/>
        </p:nvSpPr>
        <p:spPr>
          <a:xfrm>
            <a:off x="457200" y="1874520"/>
            <a:ext cx="4023360" cy="685800"/>
          </a:xfrm>
          <a:prstGeom prst="rect">
            <a:avLst/>
          </a:prstGeom>
          <a:noFill/>
          <a:ln/>
        </p:spPr>
        <p:txBody>
          <a:bodyPr wrap="square" lIns="0" tIns="0" rIns="0" bIns="0" rtlCol="0" anchor="ctr"/>
          <a:lstStyle/>
          <a:p>
            <a:pPr marL="0" indent="0" algn="ctr">
              <a:buNone/>
            </a:pPr>
            <a:r>
              <a:rPr lang="en-US" sz="4400" b="1" dirty="0">
                <a:solidFill>
                  <a:srgbClr val="2E86AB"/>
                </a:solidFill>
                <a:latin typeface="Calibri" pitchFamily="34" charset="0"/>
                <a:ea typeface="Calibri" pitchFamily="34" charset="-122"/>
                <a:cs typeface="Calibri" pitchFamily="34" charset="-120"/>
              </a:rPr>
              <a:t>293.98</a:t>
            </a:r>
            <a:endParaRPr lang="en-US" sz="4400" dirty="0"/>
          </a:p>
        </p:txBody>
      </p:sp>
      <p:sp>
        <p:nvSpPr>
          <p:cNvPr id="9" name="Text 7"/>
          <p:cNvSpPr/>
          <p:nvPr/>
        </p:nvSpPr>
        <p:spPr>
          <a:xfrm>
            <a:off x="457200" y="2542032"/>
            <a:ext cx="402336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±198.93  USD/oz</a:t>
            </a:r>
            <a:endParaRPr lang="en-US" sz="1200" dirty="0"/>
          </a:p>
        </p:txBody>
      </p:sp>
      <p:sp>
        <p:nvSpPr>
          <p:cNvPr id="10" name="Text 8"/>
          <p:cNvSpPr/>
          <p:nvPr/>
        </p:nvSpPr>
        <p:spPr>
          <a:xfrm>
            <a:off x="457200" y="2880360"/>
            <a:ext cx="40233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RMSE Entrenamiento: 4.42</a:t>
            </a:r>
            <a:endParaRPr lang="en-US" sz="1100" dirty="0"/>
          </a:p>
        </p:txBody>
      </p:sp>
      <p:sp>
        <p:nvSpPr>
          <p:cNvPr id="11" name="Shape 9"/>
          <p:cNvSpPr/>
          <p:nvPr/>
        </p:nvSpPr>
        <p:spPr>
          <a:xfrm>
            <a:off x="4846320" y="1097280"/>
            <a:ext cx="4023360" cy="25603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2" name="Shape 10"/>
          <p:cNvSpPr/>
          <p:nvPr/>
        </p:nvSpPr>
        <p:spPr>
          <a:xfrm>
            <a:off x="4846320" y="1097280"/>
            <a:ext cx="4023360" cy="457200"/>
          </a:xfrm>
          <a:prstGeom prst="rect">
            <a:avLst/>
          </a:prstGeom>
          <a:solidFill>
            <a:srgbClr val="DAA520"/>
          </a:solidFill>
          <a:ln w="12700">
            <a:solidFill>
              <a:srgbClr val="DAA520"/>
            </a:solidFill>
            <a:prstDash val="solid"/>
          </a:ln>
        </p:spPr>
        <p:txBody>
          <a:bodyPr/>
          <a:lstStyle/>
          <a:p>
            <a:endParaRPr lang="es-MX"/>
          </a:p>
        </p:txBody>
      </p:sp>
      <p:sp>
        <p:nvSpPr>
          <p:cNvPr id="13" name="Text 11"/>
          <p:cNvSpPr/>
          <p:nvPr/>
        </p:nvSpPr>
        <p:spPr>
          <a:xfrm>
            <a:off x="4846320" y="1097280"/>
            <a:ext cx="4023360" cy="457200"/>
          </a:xfrm>
          <a:prstGeom prst="rect">
            <a:avLst/>
          </a:prstGeom>
          <a:noFill/>
          <a:ln/>
        </p:spPr>
        <p:txBody>
          <a:bodyPr wrap="square" lIns="0" tIns="0" rIns="0" bIns="0" rtlCol="0" anchor="ctr"/>
          <a:lstStyle/>
          <a:p>
            <a:pPr marL="0" indent="0" algn="ctr">
              <a:buNone/>
            </a:pPr>
            <a:r>
              <a:rPr lang="en-US" sz="1400" b="1" dirty="0">
                <a:solidFill>
                  <a:srgbClr val="0F1923"/>
                </a:solidFill>
                <a:latin typeface="Calibri" pitchFamily="34" charset="0"/>
                <a:ea typeface="Calibri" pitchFamily="34" charset="-122"/>
                <a:cs typeface="Calibri" pitchFamily="34" charset="-120"/>
              </a:rPr>
              <a:t>⚡  XGBoost</a:t>
            </a:r>
            <a:endParaRPr lang="en-US" sz="1400" dirty="0"/>
          </a:p>
        </p:txBody>
      </p:sp>
      <p:sp>
        <p:nvSpPr>
          <p:cNvPr id="14" name="Text 12"/>
          <p:cNvSpPr/>
          <p:nvPr/>
        </p:nvSpPr>
        <p:spPr>
          <a:xfrm>
            <a:off x="4846320" y="1627632"/>
            <a:ext cx="402336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RMSE Prueba</a:t>
            </a:r>
            <a:endParaRPr lang="en-US" sz="1100" dirty="0"/>
          </a:p>
        </p:txBody>
      </p:sp>
      <p:sp>
        <p:nvSpPr>
          <p:cNvPr id="15" name="Text 13"/>
          <p:cNvSpPr/>
          <p:nvPr/>
        </p:nvSpPr>
        <p:spPr>
          <a:xfrm>
            <a:off x="4846320" y="1874520"/>
            <a:ext cx="4023360" cy="685800"/>
          </a:xfrm>
          <a:prstGeom prst="rect">
            <a:avLst/>
          </a:prstGeom>
          <a:noFill/>
          <a:ln/>
        </p:spPr>
        <p:txBody>
          <a:bodyPr wrap="square" lIns="0" tIns="0" rIns="0" bIns="0" rtlCol="0" anchor="ctr"/>
          <a:lstStyle/>
          <a:p>
            <a:pPr marL="0" indent="0" algn="ctr">
              <a:buNone/>
            </a:pPr>
            <a:r>
              <a:rPr lang="en-US" sz="4400" b="1" dirty="0">
                <a:solidFill>
                  <a:srgbClr val="DAA520"/>
                </a:solidFill>
                <a:latin typeface="Calibri" pitchFamily="34" charset="0"/>
                <a:ea typeface="Calibri" pitchFamily="34" charset="-122"/>
                <a:cs typeface="Calibri" pitchFamily="34" charset="-120"/>
              </a:rPr>
              <a:t>294.55</a:t>
            </a:r>
            <a:endParaRPr lang="en-US" sz="4400" dirty="0"/>
          </a:p>
        </p:txBody>
      </p:sp>
      <p:sp>
        <p:nvSpPr>
          <p:cNvPr id="16" name="Text 14"/>
          <p:cNvSpPr/>
          <p:nvPr/>
        </p:nvSpPr>
        <p:spPr>
          <a:xfrm>
            <a:off x="4846320" y="2542032"/>
            <a:ext cx="402336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±198.98  USD/oz</a:t>
            </a:r>
            <a:endParaRPr lang="en-US" sz="1200" dirty="0"/>
          </a:p>
        </p:txBody>
      </p:sp>
      <p:sp>
        <p:nvSpPr>
          <p:cNvPr id="17" name="Text 15"/>
          <p:cNvSpPr/>
          <p:nvPr/>
        </p:nvSpPr>
        <p:spPr>
          <a:xfrm>
            <a:off x="4846320" y="2880360"/>
            <a:ext cx="40233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RMSE Entrenamiento: 7.09</a:t>
            </a:r>
            <a:endParaRPr lang="en-US" sz="1100" dirty="0"/>
          </a:p>
        </p:txBody>
      </p:sp>
      <p:graphicFrame>
        <p:nvGraphicFramePr>
          <p:cNvPr id="18" name="Chart 0"/>
          <p:cNvGraphicFramePr/>
          <p:nvPr/>
        </p:nvGraphicFramePr>
        <p:xfrm>
          <a:off x="457200" y="3749040"/>
          <a:ext cx="8229600" cy="12344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DAA520"/>
          </a:solidFill>
          <a:ln w="12700">
            <a:solidFill>
              <a:srgbClr val="DAA520"/>
            </a:solidFill>
            <a:prstDash val="solid"/>
          </a:ln>
        </p:spPr>
        <p:txBody>
          <a:bodyPr/>
          <a:lstStyle/>
          <a:p>
            <a:endParaRPr lang="es-MX"/>
          </a:p>
        </p:txBody>
      </p:sp>
      <p:sp>
        <p:nvSpPr>
          <p:cNvPr id="3" name="Text 1"/>
          <p:cNvSpPr/>
          <p:nvPr/>
        </p:nvSpPr>
        <p:spPr>
          <a:xfrm>
            <a:off x="457200" y="320040"/>
            <a:ext cx="8229600" cy="594360"/>
          </a:xfrm>
          <a:prstGeom prst="rect">
            <a:avLst/>
          </a:prstGeom>
          <a:noFill/>
          <a:ln/>
        </p:spPr>
        <p:txBody>
          <a:bodyPr wrap="square" lIns="0" tIns="0" rIns="0" bIns="0" rtlCol="0" anchor="ctr"/>
          <a:lstStyle/>
          <a:p>
            <a:pPr marL="0" indent="0">
              <a:buNone/>
            </a:pPr>
            <a:r>
              <a:rPr lang="en-US" sz="3000" b="1" dirty="0">
                <a:solidFill>
                  <a:srgbClr val="1E2A38"/>
                </a:solidFill>
                <a:latin typeface="Calibri" pitchFamily="34" charset="0"/>
                <a:ea typeface="Calibri" pitchFamily="34" charset="-122"/>
                <a:cs typeface="Calibri" pitchFamily="34" charset="-120"/>
              </a:rPr>
              <a:t>Conclusiones</a:t>
            </a:r>
            <a:endParaRPr lang="en-US" sz="3000" dirty="0"/>
          </a:p>
        </p:txBody>
      </p:sp>
      <p:sp>
        <p:nvSpPr>
          <p:cNvPr id="4" name="Shape 2"/>
          <p:cNvSpPr/>
          <p:nvPr/>
        </p:nvSpPr>
        <p:spPr>
          <a:xfrm>
            <a:off x="457200" y="109728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457200" y="1097280"/>
            <a:ext cx="128016" cy="1691640"/>
          </a:xfrm>
          <a:prstGeom prst="rect">
            <a:avLst/>
          </a:prstGeom>
          <a:solidFill>
            <a:srgbClr val="DAA520"/>
          </a:solidFill>
          <a:ln w="12700">
            <a:solidFill>
              <a:srgbClr val="DAA520"/>
            </a:solidFill>
            <a:prstDash val="solid"/>
          </a:ln>
        </p:spPr>
        <p:txBody>
          <a:bodyPr/>
          <a:lstStyle/>
          <a:p>
            <a:endParaRPr lang="es-MX"/>
          </a:p>
        </p:txBody>
      </p:sp>
      <p:sp>
        <p:nvSpPr>
          <p:cNvPr id="6" name="Text 4"/>
          <p:cNvSpPr/>
          <p:nvPr/>
        </p:nvSpPr>
        <p:spPr>
          <a:xfrm>
            <a:off x="685800" y="1188720"/>
            <a:ext cx="3749040" cy="411480"/>
          </a:xfrm>
          <a:prstGeom prst="rect">
            <a:avLst/>
          </a:prstGeom>
          <a:noFill/>
          <a:ln/>
        </p:spPr>
        <p:txBody>
          <a:bodyPr wrap="square" lIns="0" tIns="0" rIns="0" bIns="0" rtlCol="0" anchor="ctr"/>
          <a:lstStyle/>
          <a:p>
            <a:pPr marL="0" indent="0">
              <a:buNone/>
            </a:pPr>
            <a:r>
              <a:rPr lang="en-US" sz="1200" b="1" dirty="0">
                <a:solidFill>
                  <a:srgbClr val="1E2A38"/>
                </a:solidFill>
                <a:latin typeface="Calibri" pitchFamily="34" charset="0"/>
                <a:ea typeface="Calibri" pitchFamily="34" charset="-122"/>
                <a:cs typeface="Calibri" pitchFamily="34" charset="-120"/>
              </a:rPr>
              <a:t>✅  Ingeniería de características fue clave</a:t>
            </a:r>
            <a:endParaRPr lang="en-US" sz="1200" dirty="0"/>
          </a:p>
        </p:txBody>
      </p:sp>
      <p:sp>
        <p:nvSpPr>
          <p:cNvPr id="7" name="Text 5"/>
          <p:cNvSpPr/>
          <p:nvPr/>
        </p:nvSpPr>
        <p:spPr>
          <a:xfrm>
            <a:off x="685800" y="1600200"/>
            <a:ext cx="3794760" cy="10515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Los rezagos del precio del oro fueron los predictores de mayor correlación con el target. Sin ellos, los modelos tendrían solo 3 variables originales.</a:t>
            </a:r>
            <a:endParaRPr lang="en-US" sz="1050" dirty="0"/>
          </a:p>
        </p:txBody>
      </p:sp>
      <p:sp>
        <p:nvSpPr>
          <p:cNvPr id="8" name="Shape 6"/>
          <p:cNvSpPr/>
          <p:nvPr/>
        </p:nvSpPr>
        <p:spPr>
          <a:xfrm>
            <a:off x="4846320" y="109728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9" name="Shape 7"/>
          <p:cNvSpPr/>
          <p:nvPr/>
        </p:nvSpPr>
        <p:spPr>
          <a:xfrm>
            <a:off x="4846320" y="1097280"/>
            <a:ext cx="128016" cy="1691640"/>
          </a:xfrm>
          <a:prstGeom prst="rect">
            <a:avLst/>
          </a:prstGeom>
          <a:solidFill>
            <a:srgbClr val="DAA520"/>
          </a:solidFill>
          <a:ln w="12700">
            <a:solidFill>
              <a:srgbClr val="DAA520"/>
            </a:solidFill>
            <a:prstDash val="solid"/>
          </a:ln>
        </p:spPr>
        <p:txBody>
          <a:bodyPr/>
          <a:lstStyle/>
          <a:p>
            <a:endParaRPr lang="es-MX"/>
          </a:p>
        </p:txBody>
      </p:sp>
      <p:sp>
        <p:nvSpPr>
          <p:cNvPr id="10" name="Text 8"/>
          <p:cNvSpPr/>
          <p:nvPr/>
        </p:nvSpPr>
        <p:spPr>
          <a:xfrm>
            <a:off x="5074920" y="1188720"/>
            <a:ext cx="3749040" cy="411480"/>
          </a:xfrm>
          <a:prstGeom prst="rect">
            <a:avLst/>
          </a:prstGeom>
          <a:noFill/>
          <a:ln/>
        </p:spPr>
        <p:txBody>
          <a:bodyPr wrap="square" lIns="0" tIns="0" rIns="0" bIns="0" rtlCol="0" anchor="ctr"/>
          <a:lstStyle/>
          <a:p>
            <a:pPr marL="0" indent="0">
              <a:buNone/>
            </a:pPr>
            <a:r>
              <a:rPr lang="en-US" sz="1200" b="1" dirty="0">
                <a:solidFill>
                  <a:srgbClr val="1E2A38"/>
                </a:solidFill>
                <a:latin typeface="Calibri" pitchFamily="34" charset="0"/>
                <a:ea typeface="Calibri" pitchFamily="34" charset="-122"/>
                <a:cs typeface="Calibri" pitchFamily="34" charset="-120"/>
              </a:rPr>
              <a:t>⚖️  Ambos modelos son estadísticamente equivalentes</a:t>
            </a:r>
            <a:endParaRPr lang="en-US" sz="1200" dirty="0"/>
          </a:p>
        </p:txBody>
      </p:sp>
      <p:sp>
        <p:nvSpPr>
          <p:cNvPr id="11" name="Text 9"/>
          <p:cNvSpPr/>
          <p:nvPr/>
        </p:nvSpPr>
        <p:spPr>
          <a:xfrm>
            <a:off x="5074920" y="1600200"/>
            <a:ext cx="3794760" cy="10515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RF: 293.98 ± 198 vs XGBoost: 294.55 ± 198. La diferencia es mínima y las desviaciones se solapan totalmente.</a:t>
            </a:r>
            <a:endParaRPr lang="en-US" sz="1050" dirty="0"/>
          </a:p>
        </p:txBody>
      </p:sp>
      <p:sp>
        <p:nvSpPr>
          <p:cNvPr id="12" name="Shape 10"/>
          <p:cNvSpPr/>
          <p:nvPr/>
        </p:nvSpPr>
        <p:spPr>
          <a:xfrm>
            <a:off x="457200" y="297180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3" name="Shape 11"/>
          <p:cNvSpPr/>
          <p:nvPr/>
        </p:nvSpPr>
        <p:spPr>
          <a:xfrm>
            <a:off x="457200" y="2971800"/>
            <a:ext cx="128016" cy="1691640"/>
          </a:xfrm>
          <a:prstGeom prst="rect">
            <a:avLst/>
          </a:prstGeom>
          <a:solidFill>
            <a:srgbClr val="DAA520"/>
          </a:solidFill>
          <a:ln w="12700">
            <a:solidFill>
              <a:srgbClr val="DAA520"/>
            </a:solidFill>
            <a:prstDash val="solid"/>
          </a:ln>
        </p:spPr>
        <p:txBody>
          <a:bodyPr/>
          <a:lstStyle/>
          <a:p>
            <a:endParaRPr lang="es-MX"/>
          </a:p>
        </p:txBody>
      </p:sp>
      <p:sp>
        <p:nvSpPr>
          <p:cNvPr id="14" name="Text 12"/>
          <p:cNvSpPr/>
          <p:nvPr/>
        </p:nvSpPr>
        <p:spPr>
          <a:xfrm>
            <a:off x="685800" y="3063240"/>
            <a:ext cx="3749040" cy="411480"/>
          </a:xfrm>
          <a:prstGeom prst="rect">
            <a:avLst/>
          </a:prstGeom>
          <a:noFill/>
          <a:ln/>
        </p:spPr>
        <p:txBody>
          <a:bodyPr wrap="square" lIns="0" tIns="0" rIns="0" bIns="0" rtlCol="0" anchor="ctr"/>
          <a:lstStyle/>
          <a:p>
            <a:pPr marL="0" indent="0">
              <a:buNone/>
            </a:pPr>
            <a:r>
              <a:rPr lang="en-US" sz="1200" b="1" dirty="0">
                <a:solidFill>
                  <a:srgbClr val="1E2A38"/>
                </a:solidFill>
                <a:latin typeface="Calibri" pitchFamily="34" charset="0"/>
                <a:ea typeface="Calibri" pitchFamily="34" charset="-122"/>
                <a:cs typeface="Calibri" pitchFamily="34" charset="-120"/>
              </a:rPr>
              <a:t>📉  Sobreajuste detectado en Random Forest</a:t>
            </a:r>
            <a:endParaRPr lang="en-US" sz="1200" dirty="0"/>
          </a:p>
        </p:txBody>
      </p:sp>
      <p:sp>
        <p:nvSpPr>
          <p:cNvPr id="15" name="Text 13"/>
          <p:cNvSpPr/>
          <p:nvPr/>
        </p:nvSpPr>
        <p:spPr>
          <a:xfrm>
            <a:off x="685800" y="3474720"/>
            <a:ext cx="3794760" cy="10515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RMSE entrenamiento de 4.42 vs 293.98 en prueba evidencia sobreajuste severo. XGBoost muestra menor brecha (7.09 vs 294.55).</a:t>
            </a:r>
            <a:endParaRPr lang="en-US" sz="1050" dirty="0"/>
          </a:p>
        </p:txBody>
      </p:sp>
      <p:sp>
        <p:nvSpPr>
          <p:cNvPr id="16" name="Shape 14"/>
          <p:cNvSpPr/>
          <p:nvPr/>
        </p:nvSpPr>
        <p:spPr>
          <a:xfrm>
            <a:off x="4846320" y="297180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7" name="Shape 15"/>
          <p:cNvSpPr/>
          <p:nvPr/>
        </p:nvSpPr>
        <p:spPr>
          <a:xfrm>
            <a:off x="4846320" y="2971800"/>
            <a:ext cx="128016" cy="1691640"/>
          </a:xfrm>
          <a:prstGeom prst="rect">
            <a:avLst/>
          </a:prstGeom>
          <a:solidFill>
            <a:srgbClr val="DAA520"/>
          </a:solidFill>
          <a:ln w="12700">
            <a:solidFill>
              <a:srgbClr val="DAA520"/>
            </a:solidFill>
            <a:prstDash val="solid"/>
          </a:ln>
        </p:spPr>
        <p:txBody>
          <a:bodyPr/>
          <a:lstStyle/>
          <a:p>
            <a:endParaRPr lang="es-MX"/>
          </a:p>
        </p:txBody>
      </p:sp>
      <p:sp>
        <p:nvSpPr>
          <p:cNvPr id="18" name="Text 16"/>
          <p:cNvSpPr/>
          <p:nvPr/>
        </p:nvSpPr>
        <p:spPr>
          <a:xfrm>
            <a:off x="5074920" y="3063240"/>
            <a:ext cx="3749040" cy="411480"/>
          </a:xfrm>
          <a:prstGeom prst="rect">
            <a:avLst/>
          </a:prstGeom>
          <a:noFill/>
          <a:ln/>
        </p:spPr>
        <p:txBody>
          <a:bodyPr wrap="square" lIns="0" tIns="0" rIns="0" bIns="0" rtlCol="0" anchor="ctr"/>
          <a:lstStyle/>
          <a:p>
            <a:pPr marL="0" indent="0">
              <a:buNone/>
            </a:pPr>
            <a:r>
              <a:rPr lang="en-US" sz="1200" b="1" dirty="0">
                <a:solidFill>
                  <a:srgbClr val="1E2A38"/>
                </a:solidFill>
                <a:latin typeface="Calibri" pitchFamily="34" charset="0"/>
                <a:ea typeface="Calibri" pitchFamily="34" charset="-122"/>
                <a:cs typeface="Calibri" pitchFamily="34" charset="-120"/>
              </a:rPr>
              <a:t>⏱️  La alta variabilidad es inherente al problema</a:t>
            </a:r>
            <a:endParaRPr lang="en-US" sz="1200" dirty="0"/>
          </a:p>
        </p:txBody>
      </p:sp>
      <p:sp>
        <p:nvSpPr>
          <p:cNvPr id="19" name="Text 17"/>
          <p:cNvSpPr/>
          <p:nvPr/>
        </p:nvSpPr>
        <p:spPr>
          <a:xfrm>
            <a:off x="5074920" y="3474720"/>
            <a:ext cx="3794760" cy="10515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Los últimos folds contienen precios históricamente altos (&gt;2,000 USD), lo que eleva el error absoluto aunque el modelo capture bien la tendencia.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DAA520"/>
          </a:solidFill>
          <a:ln w="12700">
            <a:solidFill>
              <a:srgbClr val="DAA520"/>
            </a:solidFill>
            <a:prstDash val="solid"/>
          </a:ln>
        </p:spPr>
        <p:txBody>
          <a:bodyPr/>
          <a:lstStyle/>
          <a:p>
            <a:endParaRPr lang="es-MX"/>
          </a:p>
        </p:txBody>
      </p:sp>
      <p:sp>
        <p:nvSpPr>
          <p:cNvPr id="3" name="Text 1"/>
          <p:cNvSpPr/>
          <p:nvPr/>
        </p:nvSpPr>
        <p:spPr>
          <a:xfrm>
            <a:off x="502920" y="914400"/>
            <a:ext cx="8229600" cy="914400"/>
          </a:xfrm>
          <a:prstGeom prst="rect">
            <a:avLst/>
          </a:prstGeom>
          <a:noFill/>
          <a:ln/>
        </p:spPr>
        <p:txBody>
          <a:bodyPr wrap="square" lIns="0" tIns="0" rIns="0" bIns="0" rtlCol="0" anchor="ctr"/>
          <a:lstStyle/>
          <a:p>
            <a:pPr marL="0" indent="0" algn="l">
              <a:buNone/>
            </a:pPr>
            <a:r>
              <a:rPr lang="en-US" sz="5200" b="1" dirty="0">
                <a:solidFill>
                  <a:srgbClr val="FFFFFF"/>
                </a:solidFill>
                <a:latin typeface="Calibri" pitchFamily="34" charset="0"/>
                <a:ea typeface="Calibri" pitchFamily="34" charset="-122"/>
                <a:cs typeface="Calibri" pitchFamily="34" charset="-120"/>
              </a:rPr>
              <a:t>¡Gracias!</a:t>
            </a:r>
            <a:endParaRPr lang="en-US" sz="5200" dirty="0"/>
          </a:p>
        </p:txBody>
      </p:sp>
      <p:sp>
        <p:nvSpPr>
          <p:cNvPr id="4" name="Text 2"/>
          <p:cNvSpPr/>
          <p:nvPr/>
        </p:nvSpPr>
        <p:spPr>
          <a:xfrm>
            <a:off x="502920" y="1828800"/>
            <a:ext cx="8229600" cy="548640"/>
          </a:xfrm>
          <a:prstGeom prst="rect">
            <a:avLst/>
          </a:prstGeom>
          <a:noFill/>
          <a:ln/>
        </p:spPr>
        <p:txBody>
          <a:bodyPr wrap="square" lIns="0" tIns="0" rIns="0" bIns="0" rtlCol="0" anchor="ctr"/>
          <a:lstStyle/>
          <a:p>
            <a:pPr marL="0" indent="0" algn="l">
              <a:buNone/>
            </a:pPr>
            <a:r>
              <a:rPr lang="en-US" sz="2600" i="1" dirty="0">
                <a:solidFill>
                  <a:srgbClr val="F5C842"/>
                </a:solidFill>
                <a:latin typeface="Calibri" pitchFamily="34" charset="0"/>
                <a:ea typeface="Calibri" pitchFamily="34" charset="-122"/>
                <a:cs typeface="Calibri" pitchFamily="34" charset="-120"/>
              </a:rPr>
              <a:t>¿Preguntas?</a:t>
            </a:r>
            <a:endParaRPr lang="en-US" sz="2600" dirty="0"/>
          </a:p>
        </p:txBody>
      </p:sp>
      <p:sp>
        <p:nvSpPr>
          <p:cNvPr id="5" name="Shape 3"/>
          <p:cNvSpPr/>
          <p:nvPr/>
        </p:nvSpPr>
        <p:spPr>
          <a:xfrm>
            <a:off x="502920" y="2560320"/>
            <a:ext cx="4572000" cy="36576"/>
          </a:xfrm>
          <a:prstGeom prst="rect">
            <a:avLst/>
          </a:prstGeom>
          <a:solidFill>
            <a:srgbClr val="DAA520"/>
          </a:solidFill>
          <a:ln w="12700">
            <a:solidFill>
              <a:srgbClr val="DAA520"/>
            </a:solidFill>
            <a:prstDash val="solid"/>
          </a:ln>
        </p:spPr>
        <p:txBody>
          <a:bodyPr/>
          <a:lstStyle/>
          <a:p>
            <a:endParaRPr lang="es-MX"/>
          </a:p>
        </p:txBody>
      </p:sp>
      <p:sp>
        <p:nvSpPr>
          <p:cNvPr id="6" name="Shape 4"/>
          <p:cNvSpPr/>
          <p:nvPr/>
        </p:nvSpPr>
        <p:spPr>
          <a:xfrm>
            <a:off x="502920" y="2788920"/>
            <a:ext cx="5943600" cy="1463040"/>
          </a:xfrm>
          <a:prstGeom prst="rect">
            <a:avLst/>
          </a:prstGeom>
          <a:solidFill>
            <a:srgbClr val="1A2E40"/>
          </a:solidFill>
          <a:ln w="12700">
            <a:solidFill>
              <a:srgbClr val="DAA520"/>
            </a:solidFill>
            <a:prstDash val="solid"/>
          </a:ln>
          <a:effectLst>
            <a:outerShdw blurRad="101600" dist="38100" dir="8100000" algn="bl" rotWithShape="0">
              <a:srgbClr val="000000">
                <a:alpha val="12000"/>
              </a:srgbClr>
            </a:outerShdw>
          </a:effectLst>
        </p:spPr>
        <p:txBody>
          <a:bodyPr/>
          <a:lstStyle/>
          <a:p>
            <a:endParaRPr lang="es-MX"/>
          </a:p>
        </p:txBody>
      </p:sp>
      <p:sp>
        <p:nvSpPr>
          <p:cNvPr id="7" name="Text 5"/>
          <p:cNvSpPr/>
          <p:nvPr/>
        </p:nvSpPr>
        <p:spPr>
          <a:xfrm>
            <a:off x="685800" y="2852928"/>
            <a:ext cx="5577840" cy="365760"/>
          </a:xfrm>
          <a:prstGeom prst="rect">
            <a:avLst/>
          </a:prstGeom>
          <a:noFill/>
          <a:ln/>
        </p:spPr>
        <p:txBody>
          <a:bodyPr wrap="square" lIns="0" tIns="0" rIns="0" bIns="0" rtlCol="0" anchor="ctr"/>
          <a:lstStyle/>
          <a:p>
            <a:pPr marL="0" indent="0">
              <a:buNone/>
            </a:pPr>
            <a:r>
              <a:rPr lang="en-US" sz="1300" b="1" dirty="0">
                <a:solidFill>
                  <a:srgbClr val="F5C842"/>
                </a:solidFill>
                <a:latin typeface="Calibri" pitchFamily="34" charset="0"/>
                <a:ea typeface="Calibri" pitchFamily="34" charset="-122"/>
                <a:cs typeface="Calibri" pitchFamily="34" charset="-120"/>
              </a:rPr>
              <a:t>📂  Repositorio del Proyecto</a:t>
            </a:r>
            <a:endParaRPr lang="en-US" sz="1300" dirty="0"/>
          </a:p>
        </p:txBody>
      </p:sp>
      <p:sp>
        <p:nvSpPr>
          <p:cNvPr id="8" name="Text 6"/>
          <p:cNvSpPr/>
          <p:nvPr/>
        </p:nvSpPr>
        <p:spPr>
          <a:xfrm>
            <a:off x="685800" y="3200400"/>
            <a:ext cx="55778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github.com / [usuario] / gold-price-prediction</a:t>
            </a:r>
            <a:endParaRPr lang="en-US" sz="1300" dirty="0"/>
          </a:p>
        </p:txBody>
      </p:sp>
      <p:sp>
        <p:nvSpPr>
          <p:cNvPr id="9" name="Text 7"/>
          <p:cNvSpPr/>
          <p:nvPr/>
        </p:nvSpPr>
        <p:spPr>
          <a:xfrm>
            <a:off x="685800" y="3520440"/>
            <a:ext cx="5577840" cy="5486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Notebook · Dataset · Resultados</a:t>
            </a:r>
            <a:endParaRPr lang="en-US" sz="1100" dirty="0"/>
          </a:p>
        </p:txBody>
      </p:sp>
      <p:sp>
        <p:nvSpPr>
          <p:cNvPr id="10" name="Text 8"/>
          <p:cNvSpPr/>
          <p:nvPr/>
        </p:nvSpPr>
        <p:spPr>
          <a:xfrm>
            <a:off x="502920" y="4663440"/>
            <a:ext cx="8229600" cy="32004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Jorge Oviedo Magaña  ·  Alan Almaraz  ·  Aprendizaje Estadístico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894</Words>
  <Application>Microsoft Office PowerPoint</Application>
  <PresentationFormat>Presentación en pantalla (16:9)</PresentationFormat>
  <Paragraphs>144</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del Precio del Oro</dc:title>
  <dc:subject>PptxGenJS Presentation</dc:subject>
  <dc:creator>PptxGenJS</dc:creator>
  <cp:lastModifiedBy>OVIEDO MAGAÑA, JORGE</cp:lastModifiedBy>
  <cp:revision>1</cp:revision>
  <dcterms:created xsi:type="dcterms:W3CDTF">2026-05-10T15:47:52Z</dcterms:created>
  <dcterms:modified xsi:type="dcterms:W3CDTF">2026-05-10T15:50:21Z</dcterms:modified>
</cp:coreProperties>
</file>